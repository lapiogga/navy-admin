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000" b="1">
                <a:solidFill>
                  <a:srgbClr val="FFFFFF"/>
                </a:solidFill>
                <a:latin typeface="KoPub돋움체 Medium"/>
              </a:rPr>
              <a:t>SYS01 초과근무관리체계 — 플로우차트 (Flowchart)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초과근무 신청 → 결재 → 당직확인 → 월말결산 프로세스 흐름도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54000"/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SYS01 초과근무관리체계  |  1/4  |  2026-04-09</a:t>
            </a:r>
          </a:p>
        </p:txBody>
      </p:sp>
      <p:sp>
        <p:nvSpPr>
          <p:cNvPr id="5" name="Oval 4"/>
          <p:cNvSpPr/>
          <p:nvPr/>
        </p:nvSpPr>
        <p:spPr>
          <a:xfrm>
            <a:off x="5120640" y="822960"/>
            <a:ext cx="1280160" cy="25603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1195" y="1078992"/>
            <a:ext cx="1905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5715000" y="10972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18872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초과근무 신청서 관리 접속</a:t>
            </a:r>
          </a:p>
        </p:txBody>
      </p:sp>
      <p:sp>
        <p:nvSpPr>
          <p:cNvPr id="9" name="Rectangle 8"/>
          <p:cNvSpPr/>
          <p:nvPr/>
        </p:nvSpPr>
        <p:spPr>
          <a:xfrm>
            <a:off x="5751195" y="144475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5715000" y="15087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ision 10"/>
          <p:cNvSpPr/>
          <p:nvPr/>
        </p:nvSpPr>
        <p:spPr>
          <a:xfrm>
            <a:off x="4937760" y="1600200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신청구분?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45920"/>
            <a:ext cx="1463040" cy="3200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사전신청
(근무일 전 작성)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796415"/>
            <a:ext cx="137160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0840" y="1645920"/>
            <a:ext cx="1463040" cy="3200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사후신청
(사유 입력 필수)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796415"/>
            <a:ext cx="137160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51195" y="2011680"/>
            <a:ext cx="19050" cy="1554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5715000" y="214884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24028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신청서 작성 / 제출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51195" y="249631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715000" y="25603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ision 20"/>
          <p:cNvSpPr/>
          <p:nvPr/>
        </p:nvSpPr>
        <p:spPr>
          <a:xfrm>
            <a:off x="4937760" y="2651760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유효성
검증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720340"/>
            <a:ext cx="1463040" cy="27432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3333"/>
                </a:solidFill>
                <a:latin typeface="KoPub돋움체 Medium"/>
              </a:rPr>
              <a:t>[시스템 알럿]
입력 정보 확인 요청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847975"/>
            <a:ext cx="201168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5400000">
            <a:off x="6766560" y="2811780"/>
            <a:ext cx="91440" cy="9144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2656332"/>
            <a:ext cx="228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3333"/>
                </a:solidFill>
                <a:latin typeface="KoPub돋움체 Medium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04495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KoPub돋움체 Medium"/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51195" y="3063240"/>
            <a:ext cx="19050" cy="640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5715000" y="31089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320040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결재 상신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51195" y="3456432"/>
            <a:ext cx="19050" cy="640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10800000">
            <a:off x="5715000" y="3502152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cision 31"/>
          <p:cNvSpPr/>
          <p:nvPr/>
        </p:nvSpPr>
        <p:spPr>
          <a:xfrm>
            <a:off x="4937760" y="3593592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중간결재자
검토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685032"/>
            <a:ext cx="1371600" cy="2286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3333"/>
                </a:solidFill>
                <a:latin typeface="KoPub돋움체 Medium"/>
              </a:rPr>
              <a:t>반려사유 → 신청자 통보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789807"/>
            <a:ext cx="201168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5400000">
            <a:off x="6766560" y="3753612"/>
            <a:ext cx="91440" cy="9144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598164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3333"/>
                </a:solidFill>
                <a:latin typeface="KoPub돋움체 Medium"/>
              </a:rPr>
              <a:t>반려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986784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KoPub돋움체 Medium"/>
              </a:rPr>
              <a:t>승인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51195" y="400507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10800000">
            <a:off x="5715000" y="40690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cision 39"/>
          <p:cNvSpPr/>
          <p:nvPr/>
        </p:nvSpPr>
        <p:spPr>
          <a:xfrm>
            <a:off x="4937760" y="4160520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최종결재자
검토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251960"/>
            <a:ext cx="1371600" cy="2286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3333"/>
                </a:solidFill>
                <a:latin typeface="KoPub돋움체 Medium"/>
              </a:rPr>
              <a:t>반려사유 → 신청자 통보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356735"/>
            <a:ext cx="201168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5400000">
            <a:off x="6766560" y="4320540"/>
            <a:ext cx="91440" cy="9144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416509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3333"/>
                </a:solidFill>
                <a:latin typeface="KoPub돋움체 Medium"/>
              </a:rPr>
              <a:t>반려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455371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KoPub돋움체 Medium"/>
              </a:rPr>
              <a:t>승인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51195" y="4572000"/>
            <a:ext cx="19050" cy="640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0800000">
            <a:off x="5715000" y="46177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54880" y="470916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당직자 확인 / 출퇴근 기록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51195" y="4965192"/>
            <a:ext cx="1905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 rot="10800000">
            <a:off x="5715000" y="49834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54880" y="507492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초과근무 시간 확정 (자동계산)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51195" y="5330952"/>
            <a:ext cx="1905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10800000">
            <a:off x="5715000" y="534924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54880" y="544068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월말결산 집계 반영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51195" y="5696712"/>
            <a:ext cx="1905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 rot="10800000">
            <a:off x="5715000" y="571500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120640" y="5806440"/>
            <a:ext cx="1280160" cy="25603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종료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" y="1051560"/>
            <a:ext cx="2926080" cy="1485900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[신청서 입력 항목]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신청구분: 사전신청 / 사후신청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초과근무 종류: 평일 / 공휴일 / 훈련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근무일자: YYYY-MM-DD (달력 선택)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시작시간 / 종료시간 (30분 단위)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초과근무시간: 자동계산 (종료-시작)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초과근무 내용 (텍스트 입력)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당직개소 선택 (드롭다운)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신청자 IP 자동 수집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2358771"/>
            <a:ext cx="164592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82880" y="4480560"/>
            <a:ext cx="2926080" cy="918972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[당직업무 세부]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당직개소별 초과근무자 실시간 관리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출근 / 퇴근 시간 자동 기록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당직개소 변경 시 승인 프로세스 필요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IP 기반 위치 확인 / 이상접속 차단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0" y="4827651"/>
            <a:ext cx="164592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686800" y="2423160"/>
            <a:ext cx="3291840" cy="1060704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[유효성 검증 규칙]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필수값 미입력 시 알럿 표시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최대인정시간 초과 시 경고 표시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사후신청: 사유 입력 필수 검증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공휴일/훈련 별도 시간계산 적용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IP 중복 접속 체크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0" y="3584448"/>
            <a:ext cx="3291840" cy="1060704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[결재 규칙]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중간결재 → 최종결재 순차 진행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반려 시 사유 입력 필수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신청자 실시간 알림 (결재 현황)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일괄결재 지원 (복수 건 동시 처리)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대리결재 설정 가능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86800" y="4892040"/>
            <a:ext cx="3291840" cy="918972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[월말결산 프로세스]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월 단위 자동 마감 처리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부대별 / 개인별 통계 집계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결재 후 확정 (수정 불가)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Excel / PDF 자료 출력 지원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5559171"/>
            <a:ext cx="192024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000" b="1">
                <a:solidFill>
                  <a:srgbClr val="FFFFFF"/>
                </a:solidFill>
                <a:latin typeface="KoPub돋움체 Medium"/>
              </a:rPr>
              <a:t>SYS01 초과근무관리체계 — 스토리보드 (Storyboard)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7개 메뉴, 27개 하위기능, 99개 단위 프로세스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54000"/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SYS01 초과근무관리체계  |  2/4  |  2026-04-09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804672"/>
            <a:ext cx="1463040" cy="301752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KoPub돋움체 Medium"/>
              </a:rPr>
              <a:t>메인 포탈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51960" y="886968"/>
            <a:ext cx="274320" cy="1371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804672"/>
            <a:ext cx="1463040" cy="301752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KoPub돋움체 Medium"/>
              </a:rPr>
              <a:t>로그인 인증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80760" y="886968"/>
            <a:ext cx="274320" cy="1371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804672"/>
            <a:ext cx="3017520" cy="301752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SYS01 초과근무관리체계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035" y="1106424"/>
            <a:ext cx="19050" cy="10058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0200" y="1197483"/>
            <a:ext cx="89154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0675" y="12070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155448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62475" y="12070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452628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34275" y="12070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749808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06075" y="12070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1046988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1417320"/>
            <a:ext cx="2743200" cy="26060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신청서 작성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사전/사후 신청 구분 선택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초과근무 종류 (평일/공휴일/훈련)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근무일자, 시작/종료시간 입력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당직개소 선택, IP 자동수집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신청서 결재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중간결재 → 최종결재 순차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승인/반려/보류 처리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일괄처리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복수 인원 일괄 신청 등록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4  일괄처리 승인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일괄 건 결재 처리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5  월말결산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월 단위 초과근무 마감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부대별/개인별 집계 확정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417320"/>
            <a:ext cx="27432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신청서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1417320"/>
            <a:ext cx="2743200" cy="26060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나의 근무현황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월별/기간별 초과근무 조회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나의 부재관리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부재 사유/기간 등록관리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부대 근무 현황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부대원 전체 근무 현황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4  부대 근무 통계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차트/그래프 통계 시각화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5  부대 부재 현황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6  월말결산 현황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7  자료 출력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Excel/PDF 다운로드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1417320"/>
            <a:ext cx="27432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현황조회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2743200" cy="26060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부대인원 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군번/계급/성명 검색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최대인정시간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계급별/일별 한도 설정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근무시간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기본 근무시간/요일별 설정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4  공휴일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공휴일/보상휴무 등록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5  결재선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중간/최종 결재자 지정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417320"/>
            <a:ext cx="27432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부대관리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417320"/>
            <a:ext cx="2743200" cy="26060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초과근무자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당일 근무자 출퇴근 확인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실시간 인원 현황 조회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당직개소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당직개소 목록 CRUD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당직개소 변경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임시 변경 신청/승인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4  개인별 당직개소 승인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5  개인별 부서 이동 승인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417320"/>
            <a:ext cx="27432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당직업무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4951" y="4023360"/>
            <a:ext cx="19050" cy="914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4105275"/>
            <a:ext cx="795528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39315" y="411480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10800000">
            <a:off x="2103120" y="42519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16955" y="411480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6080760" y="42519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94595" y="411480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10058400" y="42519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43400"/>
            <a:ext cx="3657600" cy="196596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개인설정 정보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알림 설정 (결재/승인 알림)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기본 근무 설정값 지정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개인별 당직개소 설정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기본 당직개소 지정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개인별 부서 설정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소속 부서 변경 신청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343400"/>
            <a:ext cx="36576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개인설정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4343400"/>
            <a:ext cx="3657600" cy="196596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공지사항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목록/상세 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등록/수정/삭제 (관리자)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질의응답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질문 등록 / 답변 확인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관리자 답변 작성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343400"/>
            <a:ext cx="36576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게시판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4343400"/>
            <a:ext cx="3657600" cy="196596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체계담당자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시스템 관리자 지정/해제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메뉴관리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메뉴 구조 편집 / 권한 설정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메시지관리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시스템 메시지 편집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4  로그조회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사용자 활동 로그 조회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5  코드관리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공통코드 CRUD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4343400"/>
            <a:ext cx="36576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관리자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000" b="1">
                <a:solidFill>
                  <a:srgbClr val="FFFFFF"/>
                </a:solidFill>
                <a:latin typeface="KoPub돋움체 Medium"/>
              </a:rPr>
              <a:t>SYS01 초과근무관리체계 — 유스케이스 다이어그램 (Use Case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5개 액터, 18개 유스케이스 — 초과근무 신청/결재/관리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54000"/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SYS01 초과근무관리체계  |  3/4  |  2026-04-09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1024128"/>
            <a:ext cx="8686800" cy="3456432"/>
          </a:xfrm>
          <a:prstGeom prst="roundRect">
            <a:avLst/>
          </a:prstGeom>
          <a:noFill/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0424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366"/>
                </a:solidFill>
                <a:latin typeface="KoPub돋움체 Medium"/>
              </a:rPr>
              <a:t>SYS01 초과근무관리체계</a:t>
            </a:r>
          </a:p>
        </p:txBody>
      </p:sp>
      <p:sp>
        <p:nvSpPr>
          <p:cNvPr id="7" name="Oval 6"/>
          <p:cNvSpPr/>
          <p:nvPr/>
        </p:nvSpPr>
        <p:spPr>
          <a:xfrm>
            <a:off x="2446020" y="12527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초과근무 신청</a:t>
            </a:r>
          </a:p>
        </p:txBody>
      </p:sp>
      <p:sp>
        <p:nvSpPr>
          <p:cNvPr id="8" name="Oval 7"/>
          <p:cNvSpPr/>
          <p:nvPr/>
        </p:nvSpPr>
        <p:spPr>
          <a:xfrm>
            <a:off x="2446020" y="180136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일괄처리</a:t>
            </a:r>
          </a:p>
        </p:txBody>
      </p:sp>
      <p:sp>
        <p:nvSpPr>
          <p:cNvPr id="9" name="Oval 8"/>
          <p:cNvSpPr/>
          <p:nvPr/>
        </p:nvSpPr>
        <p:spPr>
          <a:xfrm>
            <a:off x="2446020" y="235000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나의 근무현황 조회</a:t>
            </a:r>
          </a:p>
        </p:txBody>
      </p:sp>
      <p:sp>
        <p:nvSpPr>
          <p:cNvPr id="10" name="Oval 9"/>
          <p:cNvSpPr/>
          <p:nvPr/>
        </p:nvSpPr>
        <p:spPr>
          <a:xfrm>
            <a:off x="2446020" y="289864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부재관리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2446020" y="344728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개인설정</a:t>
            </a:r>
          </a:p>
        </p:txBody>
      </p:sp>
      <p:sp>
        <p:nvSpPr>
          <p:cNvPr id="12" name="Oval 11"/>
          <p:cNvSpPr/>
          <p:nvPr/>
        </p:nvSpPr>
        <p:spPr>
          <a:xfrm>
            <a:off x="2446020" y="39959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게시판(공지/Q&amp;A)</a:t>
            </a:r>
          </a:p>
        </p:txBody>
      </p:sp>
      <p:sp>
        <p:nvSpPr>
          <p:cNvPr id="13" name="Oval 12"/>
          <p:cNvSpPr/>
          <p:nvPr/>
        </p:nvSpPr>
        <p:spPr>
          <a:xfrm>
            <a:off x="5326380" y="12527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유효성 검증</a:t>
            </a:r>
          </a:p>
        </p:txBody>
      </p:sp>
      <p:sp>
        <p:nvSpPr>
          <p:cNvPr id="14" name="Oval 13"/>
          <p:cNvSpPr/>
          <p:nvPr/>
        </p:nvSpPr>
        <p:spPr>
          <a:xfrm>
            <a:off x="5326380" y="180136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신청서 결재</a:t>
            </a:r>
          </a:p>
        </p:txBody>
      </p:sp>
      <p:sp>
        <p:nvSpPr>
          <p:cNvPr id="15" name="Oval 14"/>
          <p:cNvSpPr/>
          <p:nvPr/>
        </p:nvSpPr>
        <p:spPr>
          <a:xfrm>
            <a:off x="5326380" y="235000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월말결산</a:t>
            </a:r>
          </a:p>
        </p:txBody>
      </p:sp>
      <p:sp>
        <p:nvSpPr>
          <p:cNvPr id="16" name="Oval 15"/>
          <p:cNvSpPr/>
          <p:nvPr/>
        </p:nvSpPr>
        <p:spPr>
          <a:xfrm>
            <a:off x="5326380" y="289864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부대 근무현황 조회</a:t>
            </a:r>
          </a:p>
        </p:txBody>
      </p:sp>
      <p:sp>
        <p:nvSpPr>
          <p:cNvPr id="17" name="Oval 16"/>
          <p:cNvSpPr/>
          <p:nvPr/>
        </p:nvSpPr>
        <p:spPr>
          <a:xfrm>
            <a:off x="5326380" y="344728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부대 근무통계 조회</a:t>
            </a:r>
          </a:p>
        </p:txBody>
      </p:sp>
      <p:sp>
        <p:nvSpPr>
          <p:cNvPr id="18" name="Oval 17"/>
          <p:cNvSpPr/>
          <p:nvPr/>
        </p:nvSpPr>
        <p:spPr>
          <a:xfrm>
            <a:off x="5326380" y="39959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자료 출력</a:t>
            </a:r>
          </a:p>
        </p:txBody>
      </p:sp>
      <p:sp>
        <p:nvSpPr>
          <p:cNvPr id="19" name="Oval 18"/>
          <p:cNvSpPr/>
          <p:nvPr/>
        </p:nvSpPr>
        <p:spPr>
          <a:xfrm>
            <a:off x="8206740" y="12527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부대인원 조회</a:t>
            </a:r>
          </a:p>
        </p:txBody>
      </p:sp>
      <p:sp>
        <p:nvSpPr>
          <p:cNvPr id="20" name="Oval 19"/>
          <p:cNvSpPr/>
          <p:nvPr/>
        </p:nvSpPr>
        <p:spPr>
          <a:xfrm>
            <a:off x="8206740" y="180136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최대인정시간 설정</a:t>
            </a:r>
          </a:p>
        </p:txBody>
      </p:sp>
      <p:sp>
        <p:nvSpPr>
          <p:cNvPr id="21" name="Oval 20"/>
          <p:cNvSpPr/>
          <p:nvPr/>
        </p:nvSpPr>
        <p:spPr>
          <a:xfrm>
            <a:off x="8206740" y="235000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결재선 관리</a:t>
            </a:r>
          </a:p>
        </p:txBody>
      </p:sp>
      <p:sp>
        <p:nvSpPr>
          <p:cNvPr id="22" name="Oval 21"/>
          <p:cNvSpPr/>
          <p:nvPr/>
        </p:nvSpPr>
        <p:spPr>
          <a:xfrm>
            <a:off x="8206740" y="289864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시스템 관리</a:t>
            </a:r>
          </a:p>
        </p:txBody>
      </p:sp>
      <p:sp>
        <p:nvSpPr>
          <p:cNvPr id="23" name="Oval 22"/>
          <p:cNvSpPr/>
          <p:nvPr/>
        </p:nvSpPr>
        <p:spPr>
          <a:xfrm>
            <a:off x="8206740" y="344728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초과근무자 관리</a:t>
            </a:r>
          </a:p>
        </p:txBody>
      </p:sp>
      <p:sp>
        <p:nvSpPr>
          <p:cNvPr id="24" name="Oval 23"/>
          <p:cNvSpPr/>
          <p:nvPr/>
        </p:nvSpPr>
        <p:spPr>
          <a:xfrm>
            <a:off x="8206740" y="39959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당직개소 관리</a:t>
            </a:r>
          </a:p>
        </p:txBody>
      </p:sp>
      <p:sp>
        <p:nvSpPr>
          <p:cNvPr id="25" name="Oval 24"/>
          <p:cNvSpPr/>
          <p:nvPr/>
        </p:nvSpPr>
        <p:spPr>
          <a:xfrm>
            <a:off x="539496" y="1554480"/>
            <a:ext cx="201168" cy="201168"/>
          </a:xfrm>
          <a:prstGeom prst="ellipse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555" y="1755648"/>
            <a:ext cx="19050" cy="1828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" y="1800987"/>
            <a:ext cx="29260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30352" y="193852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109728" y="0"/>
                </a:moveTo>
                <a:lnTo>
                  <a:pt x="0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640080" y="193852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210312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신청자</a:t>
            </a:r>
          </a:p>
        </p:txBody>
      </p:sp>
      <p:sp>
        <p:nvSpPr>
          <p:cNvPr id="31" name="Oval 30"/>
          <p:cNvSpPr/>
          <p:nvPr/>
        </p:nvSpPr>
        <p:spPr>
          <a:xfrm>
            <a:off x="539496" y="4389120"/>
            <a:ext cx="201168" cy="201168"/>
          </a:xfrm>
          <a:prstGeom prst="ellipse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555" y="4590288"/>
            <a:ext cx="19050" cy="1828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3776" y="4635627"/>
            <a:ext cx="29260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30352" y="477316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109728" y="0"/>
                </a:moveTo>
                <a:lnTo>
                  <a:pt x="0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40080" y="477316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" y="49377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중간결재자</a:t>
            </a:r>
          </a:p>
        </p:txBody>
      </p:sp>
      <p:sp>
        <p:nvSpPr>
          <p:cNvPr id="37" name="Oval 36"/>
          <p:cNvSpPr/>
          <p:nvPr/>
        </p:nvSpPr>
        <p:spPr>
          <a:xfrm>
            <a:off x="11466576" y="1005840"/>
            <a:ext cx="201168" cy="201168"/>
          </a:xfrm>
          <a:prstGeom prst="ellipse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557635" y="1207008"/>
            <a:ext cx="19050" cy="1828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20856" y="1252347"/>
            <a:ext cx="29260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1457432" y="138988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109728" y="0"/>
                </a:moveTo>
                <a:lnTo>
                  <a:pt x="0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567160" y="138988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64240" y="155448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최종결재자</a:t>
            </a:r>
          </a:p>
        </p:txBody>
      </p:sp>
      <p:sp>
        <p:nvSpPr>
          <p:cNvPr id="43" name="Oval 42"/>
          <p:cNvSpPr/>
          <p:nvPr/>
        </p:nvSpPr>
        <p:spPr>
          <a:xfrm>
            <a:off x="11466576" y="2651760"/>
            <a:ext cx="201168" cy="201168"/>
          </a:xfrm>
          <a:prstGeom prst="ellipse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557635" y="2852928"/>
            <a:ext cx="19050" cy="1828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420856" y="2898267"/>
            <a:ext cx="29260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1457432" y="303580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109728" y="0"/>
                </a:moveTo>
                <a:lnTo>
                  <a:pt x="0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1567160" y="303580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64240" y="320040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관리자</a:t>
            </a:r>
          </a:p>
        </p:txBody>
      </p:sp>
      <p:sp>
        <p:nvSpPr>
          <p:cNvPr id="49" name="Oval 48"/>
          <p:cNvSpPr/>
          <p:nvPr/>
        </p:nvSpPr>
        <p:spPr>
          <a:xfrm>
            <a:off x="11466576" y="4297680"/>
            <a:ext cx="201168" cy="201168"/>
          </a:xfrm>
          <a:prstGeom prst="ellipse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557635" y="4498848"/>
            <a:ext cx="19050" cy="1828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420856" y="4544187"/>
            <a:ext cx="29260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1457432" y="468172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109728" y="0"/>
                </a:moveTo>
                <a:lnTo>
                  <a:pt x="0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1567160" y="468172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64240" y="484632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당직자</a:t>
            </a:r>
          </a:p>
        </p:txBody>
      </p:sp>
      <p:sp>
        <p:nvSpPr>
          <p:cNvPr id="55" name="Freeform 54"/>
          <p:cNvSpPr/>
          <p:nvPr/>
        </p:nvSpPr>
        <p:spPr>
          <a:xfrm>
            <a:off x="786384" y="1417320"/>
            <a:ext cx="1659636" cy="429768"/>
          </a:xfrm>
          <a:custGeom>
            <a:avLst/>
            <a:gdLst/>
            <a:ahLst/>
            <a:cxnLst/>
            <a:rect l="l" t="t" r="r" b="b"/>
            <a:pathLst>
              <a:path w="1659636" h="429768">
                <a:moveTo>
                  <a:pt x="0" y="429768"/>
                </a:moveTo>
                <a:lnTo>
                  <a:pt x="1659636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786384" y="1847088"/>
            <a:ext cx="1659636" cy="118872"/>
          </a:xfrm>
          <a:custGeom>
            <a:avLst/>
            <a:gdLst/>
            <a:ahLst/>
            <a:cxnLst/>
            <a:rect l="l" t="t" r="r" b="b"/>
            <a:pathLst>
              <a:path w="1659636" h="118872">
                <a:moveTo>
                  <a:pt x="0" y="0"/>
                </a:moveTo>
                <a:lnTo>
                  <a:pt x="1659636" y="11887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86384" y="1847088"/>
            <a:ext cx="1659636" cy="667512"/>
          </a:xfrm>
          <a:custGeom>
            <a:avLst/>
            <a:gdLst/>
            <a:ahLst/>
            <a:cxnLst/>
            <a:rect l="l" t="t" r="r" b="b"/>
            <a:pathLst>
              <a:path w="1659636" h="667512">
                <a:moveTo>
                  <a:pt x="0" y="0"/>
                </a:moveTo>
                <a:lnTo>
                  <a:pt x="1659636" y="66751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786384" y="1847088"/>
            <a:ext cx="1659636" cy="1216152"/>
          </a:xfrm>
          <a:custGeom>
            <a:avLst/>
            <a:gdLst/>
            <a:ahLst/>
            <a:cxnLst/>
            <a:rect l="l" t="t" r="r" b="b"/>
            <a:pathLst>
              <a:path w="1659636" h="1216152">
                <a:moveTo>
                  <a:pt x="0" y="0"/>
                </a:moveTo>
                <a:lnTo>
                  <a:pt x="1659636" y="121615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86384" y="1847088"/>
            <a:ext cx="1659636" cy="1764792"/>
          </a:xfrm>
          <a:custGeom>
            <a:avLst/>
            <a:gdLst/>
            <a:ahLst/>
            <a:cxnLst/>
            <a:rect l="l" t="t" r="r" b="b"/>
            <a:pathLst>
              <a:path w="1659636" h="1764792">
                <a:moveTo>
                  <a:pt x="0" y="0"/>
                </a:moveTo>
                <a:lnTo>
                  <a:pt x="1659636" y="176479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86384" y="1847088"/>
            <a:ext cx="1659636" cy="2313432"/>
          </a:xfrm>
          <a:custGeom>
            <a:avLst/>
            <a:gdLst/>
            <a:ahLst/>
            <a:cxnLst/>
            <a:rect l="l" t="t" r="r" b="b"/>
            <a:pathLst>
              <a:path w="1659636" h="2313432">
                <a:moveTo>
                  <a:pt x="0" y="0"/>
                </a:moveTo>
                <a:lnTo>
                  <a:pt x="1659636" y="231343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786384" y="1965960"/>
            <a:ext cx="4539996" cy="2715768"/>
          </a:xfrm>
          <a:custGeom>
            <a:avLst/>
            <a:gdLst/>
            <a:ahLst/>
            <a:cxnLst/>
            <a:rect l="l" t="t" r="r" b="b"/>
            <a:pathLst>
              <a:path w="4539996" h="2715768">
                <a:moveTo>
                  <a:pt x="0" y="2715768"/>
                </a:moveTo>
                <a:lnTo>
                  <a:pt x="4539996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6835140" y="1298448"/>
            <a:ext cx="4585716" cy="667512"/>
          </a:xfrm>
          <a:custGeom>
            <a:avLst/>
            <a:gdLst/>
            <a:ahLst/>
            <a:cxnLst/>
            <a:rect l="l" t="t" r="r" b="b"/>
            <a:pathLst>
              <a:path w="4585716" h="667512">
                <a:moveTo>
                  <a:pt x="4585716" y="0"/>
                </a:moveTo>
                <a:lnTo>
                  <a:pt x="0" y="66751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6835140" y="1298448"/>
            <a:ext cx="4585716" cy="1216152"/>
          </a:xfrm>
          <a:custGeom>
            <a:avLst/>
            <a:gdLst/>
            <a:ahLst/>
            <a:cxnLst/>
            <a:rect l="l" t="t" r="r" b="b"/>
            <a:pathLst>
              <a:path w="4585716" h="1216152">
                <a:moveTo>
                  <a:pt x="4585716" y="0"/>
                </a:moveTo>
                <a:lnTo>
                  <a:pt x="0" y="121615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9715500" y="1417320"/>
            <a:ext cx="1705356" cy="1527048"/>
          </a:xfrm>
          <a:custGeom>
            <a:avLst/>
            <a:gdLst/>
            <a:ahLst/>
            <a:cxnLst/>
            <a:rect l="l" t="t" r="r" b="b"/>
            <a:pathLst>
              <a:path w="1705356" h="1527048">
                <a:moveTo>
                  <a:pt x="1705356" y="1527048"/>
                </a:move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9715500" y="1965960"/>
            <a:ext cx="1705356" cy="978408"/>
          </a:xfrm>
          <a:custGeom>
            <a:avLst/>
            <a:gdLst/>
            <a:ahLst/>
            <a:cxnLst/>
            <a:rect l="l" t="t" r="r" b="b"/>
            <a:pathLst>
              <a:path w="1705356" h="978408">
                <a:moveTo>
                  <a:pt x="1705356" y="978408"/>
                </a:move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715500" y="2514600"/>
            <a:ext cx="1705356" cy="429768"/>
          </a:xfrm>
          <a:custGeom>
            <a:avLst/>
            <a:gdLst/>
            <a:ahLst/>
            <a:cxnLst/>
            <a:rect l="l" t="t" r="r" b="b"/>
            <a:pathLst>
              <a:path w="1705356" h="429768">
                <a:moveTo>
                  <a:pt x="1705356" y="429768"/>
                </a:move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715500" y="2944368"/>
            <a:ext cx="1705356" cy="118872"/>
          </a:xfrm>
          <a:custGeom>
            <a:avLst/>
            <a:gdLst/>
            <a:ahLst/>
            <a:cxnLst/>
            <a:rect l="l" t="t" r="r" b="b"/>
            <a:pathLst>
              <a:path w="1705356" h="118872">
                <a:moveTo>
                  <a:pt x="1705356" y="0"/>
                </a:moveTo>
                <a:lnTo>
                  <a:pt x="0" y="11887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715500" y="3611880"/>
            <a:ext cx="1705356" cy="978408"/>
          </a:xfrm>
          <a:custGeom>
            <a:avLst/>
            <a:gdLst/>
            <a:ahLst/>
            <a:cxnLst/>
            <a:rect l="l" t="t" r="r" b="b"/>
            <a:pathLst>
              <a:path w="1705356" h="978408">
                <a:moveTo>
                  <a:pt x="1705356" y="978408"/>
                </a:move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715500" y="4160520"/>
            <a:ext cx="1705356" cy="429768"/>
          </a:xfrm>
          <a:custGeom>
            <a:avLst/>
            <a:gdLst/>
            <a:ahLst/>
            <a:cxnLst/>
            <a:rect l="l" t="t" r="r" b="b"/>
            <a:pathLst>
              <a:path w="1705356" h="429768">
                <a:moveTo>
                  <a:pt x="1705356" y="429768"/>
                </a:move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954780" y="141732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  <a:close/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74820" y="1197864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&lt;&lt;포함&gt;&gt;</a:t>
            </a:r>
          </a:p>
        </p:txBody>
      </p:sp>
      <p:sp>
        <p:nvSpPr>
          <p:cNvPr id="72" name="Freeform 71"/>
          <p:cNvSpPr/>
          <p:nvPr/>
        </p:nvSpPr>
        <p:spPr>
          <a:xfrm>
            <a:off x="5852160" y="3227832"/>
            <a:ext cx="0" cy="768096"/>
          </a:xfrm>
          <a:custGeom>
            <a:avLst/>
            <a:gdLst/>
            <a:ahLst/>
            <a:cxnLst/>
            <a:rect l="l" t="t" r="r" b="b"/>
            <a:pathLst>
              <a:path w="0" h="768096">
                <a:moveTo>
                  <a:pt x="0" y="0"/>
                </a:moveTo>
                <a:lnTo>
                  <a:pt x="0" y="768096"/>
                </a:lnTo>
                <a:close/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03520" y="353872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&lt;&lt;확장&gt;&gt;</a:t>
            </a:r>
          </a:p>
        </p:txBody>
      </p:sp>
      <p:sp>
        <p:nvSpPr>
          <p:cNvPr id="74" name="Freeform 73"/>
          <p:cNvSpPr/>
          <p:nvPr/>
        </p:nvSpPr>
        <p:spPr>
          <a:xfrm>
            <a:off x="6309360" y="3776472"/>
            <a:ext cx="0" cy="219456"/>
          </a:xfrm>
          <a:custGeom>
            <a:avLst/>
            <a:gdLst/>
            <a:ahLst/>
            <a:cxnLst/>
            <a:rect l="l" t="t" r="r" b="b"/>
            <a:pathLst>
              <a:path w="0" h="219456">
                <a:moveTo>
                  <a:pt x="0" y="0"/>
                </a:moveTo>
                <a:lnTo>
                  <a:pt x="0" y="219456"/>
                </a:lnTo>
                <a:close/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72200" y="381304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&lt;&lt;확장&gt;&gt;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000" b="1">
                <a:solidFill>
                  <a:srgbClr val="FFFFFF"/>
                </a:solidFill>
                <a:latin typeface="KoPub돋움체 Medium"/>
              </a:rPr>
              <a:t>SYS01 초과근무관리체계 — 목표 모델 (Goal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초과근무관리체계의 목표 · 프로세스 · 참여주체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54000"/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SYS01 초과근무관리체계  |  4/4  |  2026-04-09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9326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822960"/>
            <a:ext cx="6400800" cy="713232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3366"/>
                </a:solidFill>
                <a:latin typeface="KoPub돋움체 Medium"/>
              </a:rPr>
              <a:t>초과근무 관리의 투명성과 효율성 확보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KoPub돋움체 Medium"/>
              </a:rPr>
              <a:t>(신청-결재-확인-결산의 전 과정 디지털화 및 자동화)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9835" y="1536192"/>
            <a:ext cx="19050" cy="3566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6263640" y="18745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11274552" cy="4251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4114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41148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업무 프로세스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6517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초과근무 신청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신청서 작성 / 구분 선택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9395" y="3108960"/>
            <a:ext cx="19050" cy="1554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2743200" y="32461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33375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결재 처리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중간결재 → 최종결재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9395" y="3794760"/>
            <a:ext cx="19050" cy="1554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2743200" y="39319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40233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당직 확인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출퇴근 기록 / 실시간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9395" y="4480560"/>
            <a:ext cx="19050" cy="1554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2743200" y="46177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7091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시간 확정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초과근무시간 자동계산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9395" y="5166360"/>
            <a:ext cx="19050" cy="1554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2743200" y="53035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53949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월말결산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부대별·개인별 집계 확정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2194560"/>
            <a:ext cx="63367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2194560"/>
            <a:ext cx="633679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주요 참여주체</a:t>
            </a:r>
          </a:p>
        </p:txBody>
      </p:sp>
      <p:sp>
        <p:nvSpPr>
          <p:cNvPr id="27" name="Freeform 26"/>
          <p:cNvSpPr/>
          <p:nvPr/>
        </p:nvSpPr>
        <p:spPr>
          <a:xfrm>
            <a:off x="8289036" y="2903220"/>
            <a:ext cx="1187840" cy="685800"/>
          </a:xfrm>
          <a:custGeom>
            <a:avLst/>
            <a:gdLst/>
            <a:ahLst/>
            <a:cxnLst/>
            <a:rect l="l" t="t" r="r" b="b"/>
            <a:pathLst>
              <a:path w="1187840" h="685800">
                <a:moveTo>
                  <a:pt x="0" y="0"/>
                </a:moveTo>
                <a:lnTo>
                  <a:pt x="1187840" y="685800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476876" y="3589020"/>
            <a:ext cx="0" cy="1371599"/>
          </a:xfrm>
          <a:custGeom>
            <a:avLst/>
            <a:gdLst/>
            <a:ahLst/>
            <a:cxnLst/>
            <a:rect l="l" t="t" r="r" b="b"/>
            <a:pathLst>
              <a:path w="0" h="1371599">
                <a:moveTo>
                  <a:pt x="0" y="0"/>
                </a:moveTo>
                <a:lnTo>
                  <a:pt x="0" y="1371599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289036" y="4960619"/>
            <a:ext cx="1187840" cy="685801"/>
          </a:xfrm>
          <a:custGeom>
            <a:avLst/>
            <a:gdLst/>
            <a:ahLst/>
            <a:cxnLst/>
            <a:rect l="l" t="t" r="r" b="b"/>
            <a:pathLst>
              <a:path w="1187840" h="685801">
                <a:moveTo>
                  <a:pt x="1187840" y="0"/>
                </a:moveTo>
                <a:lnTo>
                  <a:pt x="0" y="685801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7101196" y="4960620"/>
            <a:ext cx="1187840" cy="685800"/>
          </a:xfrm>
          <a:custGeom>
            <a:avLst/>
            <a:gdLst/>
            <a:ahLst/>
            <a:cxnLst/>
            <a:rect l="l" t="t" r="r" b="b"/>
            <a:pathLst>
              <a:path w="1187840" h="685800">
                <a:moveTo>
                  <a:pt x="1187840" y="685800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101196" y="3589020"/>
            <a:ext cx="0" cy="1371600"/>
          </a:xfrm>
          <a:custGeom>
            <a:avLst/>
            <a:gdLst/>
            <a:ahLst/>
            <a:cxnLst/>
            <a:rect l="l" t="t" r="r" b="b"/>
            <a:pathLst>
              <a:path w="0" h="1371600">
                <a:moveTo>
                  <a:pt x="0" y="1371600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101196" y="2903220"/>
            <a:ext cx="1187840" cy="685800"/>
          </a:xfrm>
          <a:custGeom>
            <a:avLst/>
            <a:gdLst/>
            <a:ahLst/>
            <a:cxnLst/>
            <a:rect l="l" t="t" r="r" b="b"/>
            <a:pathLst>
              <a:path w="1187840" h="685800">
                <a:moveTo>
                  <a:pt x="0" y="685800"/>
                </a:moveTo>
                <a:lnTo>
                  <a:pt x="1187840" y="0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4988" y="25191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신청자
(군인)</a:t>
            </a:r>
          </a:p>
        </p:txBody>
      </p:sp>
      <p:sp>
        <p:nvSpPr>
          <p:cNvPr id="34" name="Oval 33"/>
          <p:cNvSpPr/>
          <p:nvPr/>
        </p:nvSpPr>
        <p:spPr>
          <a:xfrm>
            <a:off x="9092828" y="32049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중간
결재자</a:t>
            </a:r>
          </a:p>
        </p:txBody>
      </p:sp>
      <p:sp>
        <p:nvSpPr>
          <p:cNvPr id="35" name="Oval 34"/>
          <p:cNvSpPr/>
          <p:nvPr/>
        </p:nvSpPr>
        <p:spPr>
          <a:xfrm>
            <a:off x="9092828" y="4576571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최종
결재자</a:t>
            </a:r>
          </a:p>
        </p:txBody>
      </p:sp>
      <p:sp>
        <p:nvSpPr>
          <p:cNvPr id="36" name="Oval 35"/>
          <p:cNvSpPr/>
          <p:nvPr/>
        </p:nvSpPr>
        <p:spPr>
          <a:xfrm>
            <a:off x="7904988" y="52623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당직자</a:t>
            </a:r>
          </a:p>
        </p:txBody>
      </p:sp>
      <p:sp>
        <p:nvSpPr>
          <p:cNvPr id="37" name="Oval 36"/>
          <p:cNvSpPr/>
          <p:nvPr/>
        </p:nvSpPr>
        <p:spPr>
          <a:xfrm>
            <a:off x="6717148" y="45765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관리자</a:t>
            </a:r>
          </a:p>
        </p:txBody>
      </p:sp>
      <p:sp>
        <p:nvSpPr>
          <p:cNvPr id="38" name="Oval 37"/>
          <p:cNvSpPr/>
          <p:nvPr/>
        </p:nvSpPr>
        <p:spPr>
          <a:xfrm>
            <a:off x="6717148" y="32049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시스템
(자동처리)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6355080"/>
            <a:ext cx="5788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KoPub돋움체 Medium"/>
              </a:rPr>
              <a:t>초과근무관리 운영체계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