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1158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SYS01 초과근무관리체계 - 와이어프레임 (Wireframe)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3152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66"/>
                </a:solidFill>
              </a:defRPr>
            </a:pPr>
            <a:r>
              <a:t>[화면1] 초과근무 신청서 작성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3749039" cy="5212080"/>
          </a:xfrm>
          <a:prstGeom prst="rect">
            <a:avLst/>
          </a:prstGeom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3749039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0241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초과근무관리 &gt; 신청서 관리 &gt; 신청서 작성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3566160" cy="502920"/>
          </a:xfrm>
          <a:prstGeom prst="rect">
            <a:avLst/>
          </a:prstGeom>
          <a:solidFill>
            <a:srgbClr val="E8F0FE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43560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</a:defRPr>
            </a:pPr>
            <a:r>
              <a:t>신청구분: [사전신청 v]  근무일: [2026-04-09]  부대: [해병대사령부 v]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6420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</a:defRPr>
            </a:pPr>
            <a:r>
              <a:t>계급: [소령 v]  성명: [홍길동]       [검색]  [초기화]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1168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</a:defRPr>
            </a:pPr>
            <a:r>
              <a:t>신청구분     [사전신청 v]        초과근무 종류  [평일 v]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26771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</a:defRPr>
            </a:pPr>
            <a:r>
              <a:t>근무일자     [2026-04-09]        시작시간      [18:00]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23744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</a:defRPr>
            </a:pPr>
            <a:r>
              <a:t>종료시간     [21:00]             초과근무시간   3시간 (자동계산)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779776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</a:defRPr>
            </a:pPr>
            <a:r>
              <a:t>신청자 IP    192.168.1.100       당직개소      [본부 당직실 v]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035808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</a:defRPr>
            </a:pPr>
            <a:r>
              <a:t>초과근무 내용 [                                         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29184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</a:defRPr>
            </a:pPr>
            <a:r>
              <a:t>             [                                          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3749039"/>
            <a:ext cx="731520" cy="228600"/>
          </a:xfrm>
          <a:prstGeom prst="round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71600" y="3749039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신청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86000" y="3749039"/>
            <a:ext cx="731520" cy="228600"/>
          </a:xfrm>
          <a:prstGeom prst="round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286000" y="3749039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</a:defRPr>
            </a:pPr>
            <a:r>
              <a:t>취소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11480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3366"/>
                </a:solidFill>
              </a:defRPr>
            </a:pPr>
            <a:r>
              <a:t>나의 신청 목록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343400"/>
            <a:ext cx="356616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" y="4389120"/>
            <a:ext cx="3566160" cy="2286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1480" y="4407408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3366"/>
                </a:solidFill>
              </a:defRPr>
            </a:pPr>
            <a:r>
              <a:t>No  구분    근무일     시작  종료  시간  상태     비고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4645152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333333"/>
                </a:solidFill>
              </a:defRPr>
            </a:pPr>
            <a:r>
              <a:t>1   사전    2026-04-08  18:00 21:00 3h    승인완료  -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846320"/>
            <a:ext cx="3566160" cy="20116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1480" y="484632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333333"/>
                </a:solidFill>
              </a:defRPr>
            </a:pPr>
            <a:r>
              <a:t>2   사후    2026-04-07  19:00 22:00 3h    결재대기  긴급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5047488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333333"/>
                </a:solidFill>
              </a:defRPr>
            </a:pPr>
            <a:r>
              <a:t>3   사전    2026-04-05  18:00 20:00 2h    반려     시간초과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5257800"/>
            <a:ext cx="3566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666666"/>
                </a:solidFill>
              </a:defRPr>
            </a:pPr>
            <a:r>
              <a:t>&lt; 1  2  3  4  5 &gt;                      총 47건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548640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650">
                <a:solidFill>
                  <a:srgbClr val="E74C3C"/>
                </a:solidFill>
              </a:defRPr>
            </a:pPr>
            <a:r>
              <a:t>* 결재 이후 수정/삭제는 관리자만 가능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650">
                <a:solidFill>
                  <a:srgbClr val="E74C3C"/>
                </a:solidFill>
              </a:defRPr>
            </a:pPr>
            <a:r>
              <a:t>* 최대인정시간 초과 시 경고 표시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650">
                <a:solidFill>
                  <a:srgbClr val="E74C3C"/>
                </a:solidFill>
              </a:defRPr>
            </a:pPr>
            <a:r>
              <a:t>* 당직 PC MAC 주소 확인 별도 Client 필요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73152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66"/>
                </a:solidFill>
              </a:defRPr>
            </a:pPr>
            <a:r>
              <a:t>[화면2] 신청서 결재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06240" y="1005840"/>
            <a:ext cx="3749039" cy="5212080"/>
          </a:xfrm>
          <a:prstGeom prst="rect">
            <a:avLst/>
          </a:prstGeom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206240" y="1005840"/>
            <a:ext cx="3749039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297680" y="10241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초과근무관리 &gt; 신청서 관리 &gt; 결재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97680" y="1417320"/>
            <a:ext cx="3566160" cy="320040"/>
          </a:xfrm>
          <a:prstGeom prst="rect">
            <a:avLst/>
          </a:prstGeom>
          <a:solidFill>
            <a:srgbClr val="E8F0FE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389120" y="143560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</a:defRPr>
            </a:pPr>
            <a:r>
              <a:t>결재대기: 12건  |  기간: [2026-04-01] ~ [2026-04-09]  [조회]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97680" y="1828800"/>
            <a:ext cx="3566160" cy="2286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343400" y="1847088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3366"/>
                </a:solidFill>
              </a:defRPr>
            </a:pPr>
            <a:r>
              <a:t>[v] No  군번        계급  성명   근무일     시간  구분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43400" y="2084831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333333"/>
                </a:solidFill>
              </a:defRPr>
            </a:pPr>
            <a:r>
              <a:t>[v] 1   25-70001  중위  김해군  04-09  3h   사전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97680" y="2286000"/>
            <a:ext cx="3566160" cy="20116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343400" y="228600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333333"/>
                </a:solidFill>
              </a:defRPr>
            </a:pPr>
            <a:r>
              <a:t>[v] 2   25-70002  대위  이해병  04-09  2h   사후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43400" y="2487168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333333"/>
                </a:solidFill>
              </a:defRPr>
            </a:pPr>
            <a:r>
              <a:t>[ ] 3   25-70003  소령  박진해  04-08  4h   사전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97680" y="2688336"/>
            <a:ext cx="3566160" cy="20116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343400" y="2688336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333333"/>
                </a:solidFill>
              </a:defRPr>
            </a:pPr>
            <a:r>
              <a:t>[v] 4   25-70004  상사  최해군  04-08  3h   사전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43400" y="2889503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333333"/>
                </a:solidFill>
              </a:defRPr>
            </a:pPr>
            <a:r>
              <a:t>[ ] 5   25-70005  중사  정해병  04-07  2h   사후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89120" y="3200400"/>
            <a:ext cx="914400" cy="256032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389120" y="320040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일괄 승인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486400" y="3200400"/>
            <a:ext cx="914400" cy="256032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486400" y="320040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일괄 반려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583680" y="3200400"/>
            <a:ext cx="914400" cy="256032"/>
          </a:xfrm>
          <a:prstGeom prst="round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583680" y="320040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333333"/>
                </a:solidFill>
              </a:defRPr>
            </a:pPr>
            <a:r>
              <a:t>엑셀저장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89120" y="36576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03366"/>
                </a:solidFill>
              </a:defRPr>
            </a:pPr>
            <a:r>
              <a:t>선택 신청서 상세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297680" y="3886200"/>
            <a:ext cx="3566160" cy="27432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389120" y="3977639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</a:defRPr>
            </a:pPr>
            <a:r>
              <a:t>신청자: 25-70001 / 중위 / 김해군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89120" y="4178807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</a:defRPr>
            </a:pPr>
            <a:r>
              <a:t>소속: 해병대사령부 &gt; 작전처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89120" y="4379976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</a:defRPr>
            </a:pPr>
            <a:r>
              <a:t>근무일: 2026-04-09 (수) 18:00~21:00 (3시간)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89120" y="4581144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</a:defRPr>
            </a:pPr>
            <a:r>
              <a:t>구분: 사전신청 / 평일초과근무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89120" y="4782312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</a:defRPr>
            </a:pPr>
            <a:r>
              <a:t>당직개소: 본부 당직실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389120" y="4983479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</a:defRPr>
            </a:pPr>
            <a:r>
              <a:t>내용: 전투준비태세 점검 관련 야간 작전 지원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89120" y="5184648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</a:defRPr>
            </a:pPr>
            <a:r>
              <a:t>결재선: 김해군(신청) &gt; 이소령(중간) &gt; 박대령(최종)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389120" y="5440680"/>
            <a:ext cx="731520" cy="2286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389120" y="544068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승인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303520" y="5440680"/>
            <a:ext cx="731520" cy="22860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303520" y="544068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반려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389120" y="576072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66666"/>
                </a:solidFill>
              </a:defRPr>
            </a:pPr>
            <a:r>
              <a:t>반려사유: [____________________________________]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138160" y="73152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3366"/>
                </a:solidFill>
              </a:defRPr>
            </a:pPr>
            <a:r>
              <a:t>[화면3] 월말결산 / 현황조회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138160" y="1005840"/>
            <a:ext cx="3749039" cy="2377440"/>
          </a:xfrm>
          <a:prstGeom prst="rect">
            <a:avLst/>
          </a:prstGeom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8138160" y="1005840"/>
            <a:ext cx="3749039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229600" y="10241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신청서 관리 &gt; 월말결산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229600" y="141732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</a:defRPr>
            </a:pPr>
            <a:r>
              <a:t>대상월: [2026년 04월 v]   부대: [해병대사령부 v]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229600" y="1618488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</a:defRPr>
            </a:pPr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229600" y="1819656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</a:defRPr>
            </a:pPr>
            <a:r>
              <a:t>결산 현황 요약: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229600" y="2020824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</a:defRPr>
            </a:pPr>
            <a:r>
              <a:t>  총 신청건수: 247건  |  승인: 231건  |  반려: 16건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229600" y="2221992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</a:defRPr>
            </a:pPr>
            <a:r>
              <a:t>  총 초과근무시간: 741시간  |  인당평균: 12.4시간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229600" y="2423160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</a:defRPr>
            </a:pPr>
            <a:r>
              <a:t>  마감기한: 2026-04-30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229600" y="2624328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</a:defRPr>
            </a:pPr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229600" y="2825496"/>
            <a:ext cx="3474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</a:defRPr>
            </a:pPr>
            <a:r>
              <a:t>  [결산실행]   [마감]   [엑셀다운로드]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138160" y="3520440"/>
            <a:ext cx="3749039" cy="2697480"/>
          </a:xfrm>
          <a:prstGeom prst="rect">
            <a:avLst/>
          </a:prstGeom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8138160" y="3520440"/>
            <a:ext cx="3749039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8229600" y="35387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FFFFF"/>
                </a:solidFill>
              </a:defRPr>
            </a:pPr>
            <a:r>
              <a:t>현황조회 &gt; 부대현황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229600" y="3931920"/>
            <a:ext cx="3474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1">
                <a:solidFill>
                  <a:srgbClr val="003366"/>
                </a:solidFill>
              </a:defRPr>
            </a:pPr>
            <a:r>
              <a:t>조회조건: [2026-04] [해병대사령부 v]  [조회]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229600" y="4105656"/>
            <a:ext cx="3474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333333"/>
                </a:solidFill>
              </a:defRPr>
            </a:pPr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8229600" y="4279392"/>
            <a:ext cx="3474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1">
                <a:solidFill>
                  <a:srgbClr val="003366"/>
                </a:solidFill>
              </a:defRPr>
            </a:pPr>
            <a:r>
              <a:t>부서명      인원  신청  승인  반려  시간합계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229600" y="4453128"/>
            <a:ext cx="3474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333333"/>
                </a:solidFill>
              </a:defRPr>
            </a:pPr>
            <a:r>
              <a:t>----------- ---- ---- ---- ---- --------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229600" y="4626864"/>
            <a:ext cx="3474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333333"/>
                </a:solidFill>
              </a:defRPr>
            </a:pPr>
            <a:r>
              <a:t>작전처       15   42   40    2   126h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229600" y="4800600"/>
            <a:ext cx="3474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333333"/>
                </a:solidFill>
              </a:defRPr>
            </a:pPr>
            <a:r>
              <a:t>군수처       12   36   34    2   102h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229600" y="4974336"/>
            <a:ext cx="3474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333333"/>
                </a:solidFill>
              </a:defRPr>
            </a:pPr>
            <a:r>
              <a:t>인사처       10   28   27    1    81h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229600" y="5148072"/>
            <a:ext cx="3474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333333"/>
                </a:solidFill>
              </a:defRPr>
            </a:pPr>
            <a:r>
              <a:t>정보처        8   24   23    1    69h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229600" y="5321808"/>
            <a:ext cx="3474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333333"/>
                </a:solidFill>
              </a:defRPr>
            </a:pPr>
            <a:r>
              <a:t>교육처       15   35   33    2    99h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229600" y="5495544"/>
            <a:ext cx="3474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333333"/>
                </a:solidFill>
              </a:defRPr>
            </a:pPr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8229600" y="5669279"/>
            <a:ext cx="34747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1">
                <a:solidFill>
                  <a:srgbClr val="003366"/>
                </a:solidFill>
              </a:defRPr>
            </a:pPr>
            <a:r>
              <a:t>합 계       60  165  157    8   477h</a:t>
            </a:r>
          </a:p>
        </p:txBody>
      </p:sp>
      <p:sp>
        <p:nvSpPr>
          <p:cNvPr id="92" name="Rectangle 91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해병대 행정포탈 | SYS01 초과근무관리체계 | 1/3 | 2026-04-09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SYS01 초과근무관리체계 - 플로우차트 (Flowchart)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t>Flow 1. 초과근무 신청/결재 프로세스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24128"/>
            <a:ext cx="11612880" cy="1828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188720" cy="822960"/>
          </a:xfrm>
          <a:prstGeom prst="rect">
            <a:avLst/>
          </a:prstGeom>
          <a:solidFill>
            <a:srgbClr val="E8F0FE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+mn-e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0040" y="1371600"/>
            <a:ext cx="10972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33333"/>
                </a:solidFill>
              </a:defRPr>
            </a:pPr>
            <a:r>
              <a:rPr sz="1000">
                <a:latin typeface="+mn-ea"/>
              </a:rPr>
              <a:t>신청자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011680"/>
            <a:ext cx="1188720" cy="822960"/>
          </a:xfrm>
          <a:prstGeom prst="rect">
            <a:avLst/>
          </a:prstGeom>
          <a:solidFill>
            <a:srgbClr val="E8F8E8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20040" y="2240280"/>
            <a:ext cx="10972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33333"/>
                </a:solidFill>
              </a:defRPr>
            </a:pPr>
            <a:r>
              <a:rPr sz="1000">
                <a:latin typeface="+mn-ea"/>
              </a:rPr>
              <a:t>결재자(중간)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880360"/>
            <a:ext cx="1188720" cy="822960"/>
          </a:xfrm>
          <a:prstGeom prst="rect">
            <a:avLst/>
          </a:prstGeom>
          <a:solidFill>
            <a:srgbClr val="FDF2E9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+mn-ea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20040" y="3108960"/>
            <a:ext cx="10972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33333"/>
                </a:solidFill>
              </a:defRPr>
            </a:pPr>
            <a:r>
              <a:rPr sz="1000">
                <a:latin typeface="+mn-ea"/>
              </a:rPr>
              <a:t>결재자(최종)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749039"/>
            <a:ext cx="1188720" cy="822960"/>
          </a:xfrm>
          <a:prstGeom prst="rect">
            <a:avLst/>
          </a:prstGeom>
          <a:solidFill>
            <a:srgbClr val="F0E8FE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+mn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20040" y="3977639"/>
            <a:ext cx="10972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333333"/>
                </a:solidFill>
              </a:defRPr>
            </a:pPr>
            <a:r>
              <a:rPr sz="1000">
                <a:latin typeface="+mn-ea"/>
              </a:rPr>
              <a:t>시스템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45920" y="1280160"/>
            <a:ext cx="9144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+mn-e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645920" y="1353312"/>
            <a:ext cx="914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33333"/>
                </a:solidFill>
              </a:defRPr>
            </a:pPr>
            <a:r>
              <a:rPr sz="1000">
                <a:latin typeface="+mn-ea"/>
              </a:rPr>
              <a:t>신청서</a:t>
            </a:r>
            <a:br>
              <a:rPr sz="1000">
                <a:latin typeface="+mn-ea"/>
              </a:rPr>
            </a:br>
            <a:r>
              <a:rPr sz="1000">
                <a:latin typeface="+mn-ea"/>
              </a:rPr>
              <a:t>작성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34640" y="1280160"/>
            <a:ext cx="9144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+mn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834640" y="1353312"/>
            <a:ext cx="914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33333"/>
                </a:solidFill>
              </a:defRPr>
            </a:pPr>
            <a:r>
              <a:rPr sz="1000">
                <a:latin typeface="+mn-ea"/>
              </a:rPr>
              <a:t>구분선택</a:t>
            </a:r>
            <a:br>
              <a:rPr sz="1000">
                <a:latin typeface="+mn-ea"/>
              </a:rPr>
            </a:br>
            <a:r>
              <a:rPr sz="1000">
                <a:latin typeface="+mn-ea"/>
              </a:rPr>
              <a:t>(사전/사후)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23360" y="1280160"/>
            <a:ext cx="9144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+mn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023360" y="1353312"/>
            <a:ext cx="914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33333"/>
                </a:solidFill>
              </a:defRPr>
            </a:pPr>
            <a:r>
              <a:rPr sz="1000" dirty="0" err="1">
                <a:latin typeface="+mn-ea"/>
              </a:rPr>
              <a:t>근무정보</a:t>
            </a:r>
            <a:br>
              <a:rPr sz="1000" dirty="0">
                <a:latin typeface="+mn-ea"/>
              </a:rPr>
            </a:br>
            <a:r>
              <a:rPr sz="1000" dirty="0" err="1">
                <a:latin typeface="+mn-ea"/>
              </a:rPr>
              <a:t>입력</a:t>
            </a:r>
            <a:endParaRPr sz="1000" dirty="0">
              <a:latin typeface="+mn-ea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212080" y="1280160"/>
            <a:ext cx="9144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+mn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212080" y="1353312"/>
            <a:ext cx="914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33333"/>
                </a:solidFill>
              </a:defRPr>
            </a:pPr>
            <a:r>
              <a:rPr sz="1000" dirty="0" err="1">
                <a:latin typeface="+mn-ea"/>
              </a:rPr>
              <a:t>당직개소</a:t>
            </a:r>
            <a:br>
              <a:rPr sz="1000" dirty="0">
                <a:latin typeface="+mn-ea"/>
              </a:rPr>
            </a:br>
            <a:r>
              <a:rPr sz="1000" dirty="0" err="1">
                <a:latin typeface="+mn-ea"/>
              </a:rPr>
              <a:t>선택</a:t>
            </a:r>
            <a:endParaRPr sz="1000" dirty="0">
              <a:latin typeface="+mn-ea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400800" y="1280160"/>
            <a:ext cx="9144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+mn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00800" y="1353312"/>
            <a:ext cx="914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33333"/>
                </a:solidFill>
              </a:defRPr>
            </a:pPr>
            <a:r>
              <a:rPr sz="1000" dirty="0" err="1">
                <a:latin typeface="+mn-ea"/>
              </a:rPr>
              <a:t>결재선</a:t>
            </a:r>
            <a:br>
              <a:rPr sz="1000" dirty="0">
                <a:latin typeface="+mn-ea"/>
              </a:rPr>
            </a:br>
            <a:r>
              <a:rPr sz="1000" dirty="0" err="1">
                <a:latin typeface="+mn-ea"/>
              </a:rPr>
              <a:t>확인</a:t>
            </a:r>
            <a:endParaRPr sz="1000" dirty="0">
              <a:latin typeface="+mn-ea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589520" y="1280160"/>
            <a:ext cx="9144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+mn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589520" y="1353312"/>
            <a:ext cx="914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33333"/>
                </a:solidFill>
              </a:defRPr>
            </a:pPr>
            <a:r>
              <a:rPr sz="1000">
                <a:latin typeface="+mn-ea"/>
              </a:rPr>
              <a:t>신청</a:t>
            </a:r>
            <a:br>
              <a:rPr sz="1000">
                <a:latin typeface="+mn-ea"/>
              </a:rPr>
            </a:br>
            <a:r>
              <a:rPr sz="1000">
                <a:latin typeface="+mn-ea"/>
              </a:rPr>
              <a:t>제출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2560320" y="1508760"/>
            <a:ext cx="274320" cy="109728"/>
          </a:xfrm>
          <a:prstGeom prst="rightArrow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+mn-ea"/>
            </a:endParaRPr>
          </a:p>
        </p:txBody>
      </p:sp>
      <p:sp>
        <p:nvSpPr>
          <p:cNvPr id="27" name="Right Arrow 26"/>
          <p:cNvSpPr/>
          <p:nvPr/>
        </p:nvSpPr>
        <p:spPr>
          <a:xfrm>
            <a:off x="3749040" y="1508760"/>
            <a:ext cx="274320" cy="109728"/>
          </a:xfrm>
          <a:prstGeom prst="rightArrow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+mn-ea"/>
            </a:endParaRPr>
          </a:p>
        </p:txBody>
      </p:sp>
      <p:sp>
        <p:nvSpPr>
          <p:cNvPr id="28" name="Right Arrow 27"/>
          <p:cNvSpPr/>
          <p:nvPr/>
        </p:nvSpPr>
        <p:spPr>
          <a:xfrm>
            <a:off x="4937760" y="1508760"/>
            <a:ext cx="274320" cy="109728"/>
          </a:xfrm>
          <a:prstGeom prst="rightArrow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+mn-ea"/>
            </a:endParaRPr>
          </a:p>
        </p:txBody>
      </p:sp>
      <p:sp>
        <p:nvSpPr>
          <p:cNvPr id="29" name="Right Arrow 28"/>
          <p:cNvSpPr/>
          <p:nvPr/>
        </p:nvSpPr>
        <p:spPr>
          <a:xfrm>
            <a:off x="6126480" y="1508760"/>
            <a:ext cx="274320" cy="109728"/>
          </a:xfrm>
          <a:prstGeom prst="rightArrow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+mn-ea"/>
            </a:endParaRPr>
          </a:p>
        </p:txBody>
      </p:sp>
      <p:sp>
        <p:nvSpPr>
          <p:cNvPr id="30" name="Right Arrow 29"/>
          <p:cNvSpPr/>
          <p:nvPr/>
        </p:nvSpPr>
        <p:spPr>
          <a:xfrm>
            <a:off x="7315200" y="1508760"/>
            <a:ext cx="274320" cy="109728"/>
          </a:xfrm>
          <a:prstGeom prst="rightArrow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+mn-ea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7589520" y="2148840"/>
            <a:ext cx="9144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+mn-ea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589520" y="2221992"/>
            <a:ext cx="914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33333"/>
                </a:solidFill>
              </a:defRPr>
            </a:pPr>
            <a:r>
              <a:rPr sz="1000">
                <a:latin typeface="+mn-ea"/>
              </a:rPr>
              <a:t>결재대기</a:t>
            </a:r>
            <a:br>
              <a:rPr sz="1000">
                <a:latin typeface="+mn-ea"/>
              </a:rPr>
            </a:br>
            <a:r>
              <a:rPr sz="1000">
                <a:latin typeface="+mn-ea"/>
              </a:rPr>
              <a:t>알림수신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78240" y="2148840"/>
            <a:ext cx="9144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+mn-ea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778240" y="2221992"/>
            <a:ext cx="914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33333"/>
                </a:solidFill>
              </a:defRPr>
            </a:pPr>
            <a:r>
              <a:rPr sz="1000">
                <a:latin typeface="+mn-ea"/>
              </a:rPr>
              <a:t>신청서</a:t>
            </a:r>
            <a:br>
              <a:rPr sz="1000">
                <a:latin typeface="+mn-ea"/>
              </a:rPr>
            </a:br>
            <a:r>
              <a:rPr sz="1000">
                <a:latin typeface="+mn-ea"/>
              </a:rPr>
              <a:t>내용확인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966960" y="2148840"/>
            <a:ext cx="9144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+mn-ea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966960" y="2221992"/>
            <a:ext cx="914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33333"/>
                </a:solidFill>
              </a:defRPr>
            </a:pPr>
            <a:r>
              <a:rPr sz="1000">
                <a:latin typeface="+mn-ea"/>
              </a:rPr>
              <a:t>승인</a:t>
            </a:r>
            <a:br>
              <a:rPr sz="1000">
                <a:latin typeface="+mn-ea"/>
              </a:rPr>
            </a:br>
            <a:r>
              <a:rPr sz="1000">
                <a:latin typeface="+mn-ea"/>
              </a:rPr>
              <a:t>/반려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8503920" y="2377440"/>
            <a:ext cx="274320" cy="109728"/>
          </a:xfrm>
          <a:prstGeom prst="rightArrow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+mn-ea"/>
            </a:endParaRPr>
          </a:p>
        </p:txBody>
      </p:sp>
      <p:sp>
        <p:nvSpPr>
          <p:cNvPr id="38" name="Right Arrow 37"/>
          <p:cNvSpPr/>
          <p:nvPr/>
        </p:nvSpPr>
        <p:spPr>
          <a:xfrm>
            <a:off x="9692640" y="2377440"/>
            <a:ext cx="274320" cy="109728"/>
          </a:xfrm>
          <a:prstGeom prst="rightArrow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+mn-ea"/>
            </a:endParaRPr>
          </a:p>
        </p:txBody>
      </p:sp>
      <p:sp>
        <p:nvSpPr>
          <p:cNvPr id="39" name="Down Arrow 38"/>
          <p:cNvSpPr/>
          <p:nvPr/>
        </p:nvSpPr>
        <p:spPr>
          <a:xfrm>
            <a:off x="7909560" y="1828800"/>
            <a:ext cx="109728" cy="320040"/>
          </a:xfrm>
          <a:prstGeom prst="downArrow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+mn-ea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9966960" y="3017520"/>
            <a:ext cx="9144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+mn-ea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966960" y="3090672"/>
            <a:ext cx="914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33333"/>
                </a:solidFill>
              </a:defRPr>
            </a:pPr>
            <a:r>
              <a:rPr sz="1000">
                <a:latin typeface="+mn-ea"/>
              </a:rPr>
              <a:t>결재대기</a:t>
            </a:r>
            <a:br>
              <a:rPr sz="1000">
                <a:latin typeface="+mn-ea"/>
              </a:rPr>
            </a:br>
            <a:r>
              <a:rPr sz="1000">
                <a:latin typeface="+mn-ea"/>
              </a:rPr>
              <a:t>알림수신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972800" y="3017520"/>
            <a:ext cx="9144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+mn-ea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0972800" y="3090672"/>
            <a:ext cx="914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33333"/>
                </a:solidFill>
              </a:defRPr>
            </a:pPr>
            <a:r>
              <a:rPr sz="1000">
                <a:latin typeface="+mn-ea"/>
              </a:rPr>
              <a:t>최종</a:t>
            </a:r>
            <a:br>
              <a:rPr sz="1000">
                <a:latin typeface="+mn-ea"/>
              </a:rPr>
            </a:br>
            <a:r>
              <a:rPr sz="1000">
                <a:latin typeface="+mn-ea"/>
              </a:rPr>
              <a:t>승인/반려</a:t>
            </a:r>
          </a:p>
        </p:txBody>
      </p:sp>
      <p:sp>
        <p:nvSpPr>
          <p:cNvPr id="44" name="Down Arrow 43"/>
          <p:cNvSpPr/>
          <p:nvPr/>
        </p:nvSpPr>
        <p:spPr>
          <a:xfrm>
            <a:off x="10287000" y="2697480"/>
            <a:ext cx="109728" cy="320040"/>
          </a:xfrm>
          <a:prstGeom prst="downArrow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+mn-ea"/>
            </a:endParaRPr>
          </a:p>
        </p:txBody>
      </p:sp>
      <p:sp>
        <p:nvSpPr>
          <p:cNvPr id="45" name="Right Arrow 44"/>
          <p:cNvSpPr/>
          <p:nvPr/>
        </p:nvSpPr>
        <p:spPr>
          <a:xfrm>
            <a:off x="10881360" y="3246120"/>
            <a:ext cx="91440" cy="109728"/>
          </a:xfrm>
          <a:prstGeom prst="rightArrow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+mn-ea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5212080" y="3886200"/>
            <a:ext cx="9144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+mn-ea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212080" y="3959352"/>
            <a:ext cx="914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33333"/>
                </a:solidFill>
              </a:defRPr>
            </a:pPr>
            <a:r>
              <a:rPr sz="1000">
                <a:latin typeface="+mn-ea"/>
              </a:rPr>
              <a:t>MAC주소</a:t>
            </a:r>
            <a:br>
              <a:rPr sz="1000">
                <a:latin typeface="+mn-ea"/>
              </a:rPr>
            </a:br>
            <a:r>
              <a:rPr sz="1000">
                <a:latin typeface="+mn-ea"/>
              </a:rPr>
              <a:t>검증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0" y="3886200"/>
            <a:ext cx="9144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+mn-ea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400800" y="3959352"/>
            <a:ext cx="914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33333"/>
                </a:solidFill>
              </a:defRPr>
            </a:pPr>
            <a:r>
              <a:rPr sz="1000">
                <a:latin typeface="+mn-ea"/>
              </a:rPr>
              <a:t>최대시간</a:t>
            </a:r>
            <a:br>
              <a:rPr sz="1000">
                <a:latin typeface="+mn-ea"/>
              </a:rPr>
            </a:br>
            <a:r>
              <a:rPr sz="1000">
                <a:latin typeface="+mn-ea"/>
              </a:rPr>
              <a:t>검증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589520" y="3886200"/>
            <a:ext cx="9144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+mn-ea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589520" y="3959352"/>
            <a:ext cx="914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33333"/>
                </a:solidFill>
              </a:defRPr>
            </a:pPr>
            <a:r>
              <a:rPr sz="1000">
                <a:latin typeface="+mn-ea"/>
              </a:rPr>
              <a:t>결재선</a:t>
            </a:r>
            <a:br>
              <a:rPr sz="1000">
                <a:latin typeface="+mn-ea"/>
              </a:rPr>
            </a:br>
            <a:r>
              <a:rPr sz="1000">
                <a:latin typeface="+mn-ea"/>
              </a:rPr>
              <a:t>자동배정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778240" y="3886200"/>
            <a:ext cx="9144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+mn-ea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8778240" y="3959352"/>
            <a:ext cx="914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33333"/>
                </a:solidFill>
              </a:defRPr>
            </a:pPr>
            <a:r>
              <a:rPr sz="1000">
                <a:latin typeface="+mn-ea"/>
              </a:rPr>
              <a:t>알림발송</a:t>
            </a:r>
            <a:br>
              <a:rPr sz="1000">
                <a:latin typeface="+mn-ea"/>
              </a:rPr>
            </a:br>
            <a:r>
              <a:rPr sz="1000">
                <a:latin typeface="+mn-ea"/>
              </a:rPr>
              <a:t>(결재자)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966960" y="3886200"/>
            <a:ext cx="9144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+mn-ea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966960" y="3959352"/>
            <a:ext cx="914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33333"/>
                </a:solidFill>
              </a:defRPr>
            </a:pPr>
            <a:r>
              <a:rPr sz="1000">
                <a:latin typeface="+mn-ea"/>
              </a:rPr>
              <a:t>상태변경</a:t>
            </a:r>
            <a:br>
              <a:rPr sz="1000">
                <a:latin typeface="+mn-ea"/>
              </a:rPr>
            </a:br>
            <a:r>
              <a:rPr sz="1000">
                <a:latin typeface="+mn-ea"/>
              </a:rPr>
              <a:t>(승인/반려)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972800" y="3886200"/>
            <a:ext cx="914400" cy="548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+mn-ea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0972800" y="3959352"/>
            <a:ext cx="914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33333"/>
                </a:solidFill>
              </a:defRPr>
            </a:pPr>
            <a:r>
              <a:rPr sz="1000">
                <a:latin typeface="+mn-ea"/>
              </a:rPr>
              <a:t>실적반영</a:t>
            </a:r>
            <a:br>
              <a:rPr sz="1000">
                <a:latin typeface="+mn-ea"/>
              </a:rPr>
            </a:br>
            <a:r>
              <a:rPr sz="1000">
                <a:latin typeface="+mn-ea"/>
              </a:rPr>
              <a:t>+이력저장</a:t>
            </a:r>
          </a:p>
        </p:txBody>
      </p:sp>
      <p:sp>
        <p:nvSpPr>
          <p:cNvPr id="58" name="Right Arrow 57"/>
          <p:cNvSpPr/>
          <p:nvPr/>
        </p:nvSpPr>
        <p:spPr>
          <a:xfrm>
            <a:off x="6126480" y="4114800"/>
            <a:ext cx="274320" cy="109728"/>
          </a:xfrm>
          <a:prstGeom prst="rightArrow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+mn-ea"/>
            </a:endParaRPr>
          </a:p>
        </p:txBody>
      </p:sp>
      <p:sp>
        <p:nvSpPr>
          <p:cNvPr id="59" name="Right Arrow 58"/>
          <p:cNvSpPr/>
          <p:nvPr/>
        </p:nvSpPr>
        <p:spPr>
          <a:xfrm>
            <a:off x="7315200" y="4114800"/>
            <a:ext cx="274320" cy="109728"/>
          </a:xfrm>
          <a:prstGeom prst="rightArrow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+mn-ea"/>
            </a:endParaRPr>
          </a:p>
        </p:txBody>
      </p:sp>
      <p:sp>
        <p:nvSpPr>
          <p:cNvPr id="60" name="Right Arrow 59"/>
          <p:cNvSpPr/>
          <p:nvPr/>
        </p:nvSpPr>
        <p:spPr>
          <a:xfrm>
            <a:off x="8503920" y="4114800"/>
            <a:ext cx="274320" cy="109728"/>
          </a:xfrm>
          <a:prstGeom prst="rightArrow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+mn-ea"/>
            </a:endParaRPr>
          </a:p>
        </p:txBody>
      </p:sp>
      <p:sp>
        <p:nvSpPr>
          <p:cNvPr id="61" name="Right Arrow 60"/>
          <p:cNvSpPr/>
          <p:nvPr/>
        </p:nvSpPr>
        <p:spPr>
          <a:xfrm>
            <a:off x="9692640" y="4114800"/>
            <a:ext cx="274320" cy="109728"/>
          </a:xfrm>
          <a:prstGeom prst="rightArrow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+mn-ea"/>
            </a:endParaRPr>
          </a:p>
        </p:txBody>
      </p:sp>
      <p:sp>
        <p:nvSpPr>
          <p:cNvPr id="62" name="Right Arrow 61"/>
          <p:cNvSpPr/>
          <p:nvPr/>
        </p:nvSpPr>
        <p:spPr>
          <a:xfrm>
            <a:off x="10881360" y="4114800"/>
            <a:ext cx="91440" cy="109728"/>
          </a:xfrm>
          <a:prstGeom prst="rightArrow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+mn-ea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274320" y="4709160"/>
            <a:ext cx="5486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rPr sz="1000">
                <a:latin typeface="+mn-ea"/>
              </a:rPr>
              <a:t>Flow 2. 월말결산 프로세스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74320" y="4937760"/>
            <a:ext cx="5486400" cy="1828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+mn-ea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365760" y="5074920"/>
            <a:ext cx="822960" cy="50292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+mn-ea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365760" y="5138928"/>
            <a:ext cx="822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33333"/>
                </a:solidFill>
              </a:defRPr>
            </a:pPr>
            <a:r>
              <a:rPr sz="1000">
                <a:latin typeface="+mn-ea"/>
              </a:rPr>
              <a:t>마감기한</a:t>
            </a:r>
            <a:br>
              <a:rPr sz="1000">
                <a:latin typeface="+mn-ea"/>
              </a:rPr>
            </a:br>
            <a:r>
              <a:rPr sz="1000">
                <a:latin typeface="+mn-ea"/>
              </a:rPr>
              <a:t>설정</a:t>
            </a:r>
          </a:p>
        </p:txBody>
      </p:sp>
      <p:sp>
        <p:nvSpPr>
          <p:cNvPr id="67" name="Right Arrow 66"/>
          <p:cNvSpPr/>
          <p:nvPr/>
        </p:nvSpPr>
        <p:spPr>
          <a:xfrm>
            <a:off x="1188720" y="5239512"/>
            <a:ext cx="182880" cy="91440"/>
          </a:xfrm>
          <a:prstGeom prst="rightArrow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+mn-ea"/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1371600" y="5074920"/>
            <a:ext cx="822960" cy="502920"/>
          </a:xfrm>
          <a:prstGeom prst="roundRect">
            <a:avLst/>
          </a:prstGeom>
          <a:solidFill>
            <a:srgbClr val="E8F8E8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+mn-ea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1371600" y="5138928"/>
            <a:ext cx="822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33333"/>
                </a:solidFill>
              </a:defRPr>
            </a:pPr>
            <a:r>
              <a:rPr sz="1000">
                <a:latin typeface="+mn-ea"/>
              </a:rPr>
              <a:t>신청서</a:t>
            </a:r>
            <a:br>
              <a:rPr sz="1000">
                <a:latin typeface="+mn-ea"/>
              </a:rPr>
            </a:br>
            <a:r>
              <a:rPr sz="1000">
                <a:latin typeface="+mn-ea"/>
              </a:rPr>
              <a:t>최종확인</a:t>
            </a:r>
          </a:p>
        </p:txBody>
      </p:sp>
      <p:sp>
        <p:nvSpPr>
          <p:cNvPr id="70" name="Right Arrow 69"/>
          <p:cNvSpPr/>
          <p:nvPr/>
        </p:nvSpPr>
        <p:spPr>
          <a:xfrm>
            <a:off x="2194560" y="5239512"/>
            <a:ext cx="182880" cy="91440"/>
          </a:xfrm>
          <a:prstGeom prst="rightArrow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+mn-ea"/>
            </a:endParaRPr>
          </a:p>
        </p:txBody>
      </p:sp>
      <p:sp>
        <p:nvSpPr>
          <p:cNvPr id="71" name="Rounded Rectangle 70"/>
          <p:cNvSpPr/>
          <p:nvPr/>
        </p:nvSpPr>
        <p:spPr>
          <a:xfrm>
            <a:off x="2377440" y="5074920"/>
            <a:ext cx="822960" cy="50292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+mn-ea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2377440" y="5138928"/>
            <a:ext cx="822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33333"/>
                </a:solidFill>
              </a:defRPr>
            </a:pPr>
            <a:r>
              <a:rPr sz="1000">
                <a:latin typeface="+mn-ea"/>
              </a:rPr>
              <a:t>미결재건</a:t>
            </a:r>
            <a:br>
              <a:rPr sz="1000">
                <a:latin typeface="+mn-ea"/>
              </a:rPr>
            </a:br>
            <a:r>
              <a:rPr sz="1000">
                <a:latin typeface="+mn-ea"/>
              </a:rPr>
              <a:t>일괄처리</a:t>
            </a:r>
          </a:p>
        </p:txBody>
      </p:sp>
      <p:sp>
        <p:nvSpPr>
          <p:cNvPr id="73" name="Right Arrow 72"/>
          <p:cNvSpPr/>
          <p:nvPr/>
        </p:nvSpPr>
        <p:spPr>
          <a:xfrm>
            <a:off x="3200400" y="5239512"/>
            <a:ext cx="182880" cy="91440"/>
          </a:xfrm>
          <a:prstGeom prst="rightArrow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+mn-ea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3383280" y="5074920"/>
            <a:ext cx="822960" cy="502920"/>
          </a:xfrm>
          <a:prstGeom prst="roundRect">
            <a:avLst/>
          </a:prstGeom>
          <a:solidFill>
            <a:srgbClr val="F0E8FE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+mn-ea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3383280" y="5138928"/>
            <a:ext cx="822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33333"/>
                </a:solidFill>
              </a:defRPr>
            </a:pPr>
            <a:r>
              <a:rPr sz="1000">
                <a:latin typeface="+mn-ea"/>
              </a:rPr>
              <a:t>결산</a:t>
            </a:r>
            <a:br>
              <a:rPr sz="1000">
                <a:latin typeface="+mn-ea"/>
              </a:rPr>
            </a:br>
            <a:r>
              <a:rPr sz="1000">
                <a:latin typeface="+mn-ea"/>
              </a:rPr>
              <a:t>실행</a:t>
            </a:r>
          </a:p>
        </p:txBody>
      </p:sp>
      <p:sp>
        <p:nvSpPr>
          <p:cNvPr id="76" name="Right Arrow 75"/>
          <p:cNvSpPr/>
          <p:nvPr/>
        </p:nvSpPr>
        <p:spPr>
          <a:xfrm>
            <a:off x="4206240" y="5239512"/>
            <a:ext cx="182880" cy="91440"/>
          </a:xfrm>
          <a:prstGeom prst="rightArrow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+mn-ea"/>
            </a:endParaRPr>
          </a:p>
        </p:txBody>
      </p:sp>
      <p:sp>
        <p:nvSpPr>
          <p:cNvPr id="77" name="Rounded Rectangle 76"/>
          <p:cNvSpPr/>
          <p:nvPr/>
        </p:nvSpPr>
        <p:spPr>
          <a:xfrm>
            <a:off x="4389120" y="5074920"/>
            <a:ext cx="822960" cy="50292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+mn-ea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4389120" y="5138928"/>
            <a:ext cx="822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33333"/>
                </a:solidFill>
              </a:defRPr>
            </a:pPr>
            <a:r>
              <a:rPr sz="1000">
                <a:latin typeface="+mn-ea"/>
              </a:rPr>
              <a:t>엑셀</a:t>
            </a:r>
            <a:br>
              <a:rPr sz="1000">
                <a:latin typeface="+mn-ea"/>
              </a:rPr>
            </a:br>
            <a:r>
              <a:rPr sz="1000">
                <a:latin typeface="+mn-ea"/>
              </a:rPr>
              <a:t>다운로드</a:t>
            </a:r>
          </a:p>
        </p:txBody>
      </p:sp>
      <p:sp>
        <p:nvSpPr>
          <p:cNvPr id="79" name="Right Arrow 78"/>
          <p:cNvSpPr/>
          <p:nvPr/>
        </p:nvSpPr>
        <p:spPr>
          <a:xfrm>
            <a:off x="5212080" y="5239512"/>
            <a:ext cx="182880" cy="91440"/>
          </a:xfrm>
          <a:prstGeom prst="rightArrow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+mn-ea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5394960" y="5074920"/>
            <a:ext cx="822960" cy="502920"/>
          </a:xfrm>
          <a:prstGeom prst="roundRect">
            <a:avLst/>
          </a:prstGeom>
          <a:solidFill>
            <a:srgbClr val="E8F8E8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+mn-ea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5394960" y="5138928"/>
            <a:ext cx="822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33333"/>
                </a:solidFill>
              </a:defRPr>
            </a:pPr>
            <a:r>
              <a:rPr sz="1000">
                <a:latin typeface="+mn-ea"/>
              </a:rPr>
              <a:t>마감</a:t>
            </a:r>
            <a:br>
              <a:rPr sz="1000">
                <a:latin typeface="+mn-ea"/>
              </a:rPr>
            </a:br>
            <a:r>
              <a:rPr sz="1000">
                <a:latin typeface="+mn-ea"/>
              </a:rPr>
              <a:t>처리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400800" y="4709160"/>
            <a:ext cx="5486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3366"/>
                </a:solidFill>
              </a:defRPr>
            </a:pPr>
            <a:r>
              <a:rPr sz="1000">
                <a:latin typeface="+mn-ea"/>
              </a:rPr>
              <a:t>Flow 3. 당직업무 프로세스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400800" y="4937760"/>
            <a:ext cx="5486400" cy="1828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+mn-ea"/>
            </a:endParaRPr>
          </a:p>
        </p:txBody>
      </p:sp>
      <p:sp>
        <p:nvSpPr>
          <p:cNvPr id="84" name="Rounded Rectangle 83"/>
          <p:cNvSpPr/>
          <p:nvPr/>
        </p:nvSpPr>
        <p:spPr>
          <a:xfrm>
            <a:off x="6492240" y="5074920"/>
            <a:ext cx="868680" cy="50292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+mn-ea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6492240" y="5138928"/>
            <a:ext cx="868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33333"/>
                </a:solidFill>
              </a:defRPr>
            </a:pPr>
            <a:r>
              <a:rPr sz="1000">
                <a:latin typeface="+mn-ea"/>
              </a:rPr>
              <a:t>당직개소</a:t>
            </a:r>
            <a:br>
              <a:rPr sz="1000">
                <a:latin typeface="+mn-ea"/>
              </a:rPr>
            </a:br>
            <a:r>
              <a:rPr sz="1000">
                <a:latin typeface="+mn-ea"/>
              </a:rPr>
              <a:t>등록/관리</a:t>
            </a:r>
          </a:p>
        </p:txBody>
      </p:sp>
      <p:sp>
        <p:nvSpPr>
          <p:cNvPr id="86" name="Right Arrow 85"/>
          <p:cNvSpPr/>
          <p:nvPr/>
        </p:nvSpPr>
        <p:spPr>
          <a:xfrm>
            <a:off x="7360920" y="5239512"/>
            <a:ext cx="182880" cy="91440"/>
          </a:xfrm>
          <a:prstGeom prst="rightArrow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+mn-ea"/>
            </a:endParaRPr>
          </a:p>
        </p:txBody>
      </p:sp>
      <p:sp>
        <p:nvSpPr>
          <p:cNvPr id="87" name="Rounded Rectangle 86"/>
          <p:cNvSpPr/>
          <p:nvPr/>
        </p:nvSpPr>
        <p:spPr>
          <a:xfrm>
            <a:off x="7543800" y="5074920"/>
            <a:ext cx="868680" cy="502920"/>
          </a:xfrm>
          <a:prstGeom prst="roundRect">
            <a:avLst/>
          </a:prstGeom>
          <a:solidFill>
            <a:srgbClr val="E8F8E8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+mn-ea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7543800" y="5138928"/>
            <a:ext cx="868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33333"/>
                </a:solidFill>
              </a:defRPr>
            </a:pPr>
            <a:r>
              <a:rPr sz="1000">
                <a:latin typeface="+mn-ea"/>
              </a:rPr>
              <a:t>당직자</a:t>
            </a:r>
            <a:br>
              <a:rPr sz="1000">
                <a:latin typeface="+mn-ea"/>
              </a:rPr>
            </a:br>
            <a:r>
              <a:rPr sz="1000">
                <a:latin typeface="+mn-ea"/>
              </a:rPr>
              <a:t>지정</a:t>
            </a:r>
          </a:p>
        </p:txBody>
      </p:sp>
      <p:sp>
        <p:nvSpPr>
          <p:cNvPr id="89" name="Right Arrow 88"/>
          <p:cNvSpPr/>
          <p:nvPr/>
        </p:nvSpPr>
        <p:spPr>
          <a:xfrm>
            <a:off x="8412480" y="5239512"/>
            <a:ext cx="182880" cy="91440"/>
          </a:xfrm>
          <a:prstGeom prst="rightArrow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+mn-ea"/>
            </a:endParaRPr>
          </a:p>
        </p:txBody>
      </p:sp>
      <p:sp>
        <p:nvSpPr>
          <p:cNvPr id="90" name="Rounded Rectangle 89"/>
          <p:cNvSpPr/>
          <p:nvPr/>
        </p:nvSpPr>
        <p:spPr>
          <a:xfrm>
            <a:off x="8595359" y="5074920"/>
            <a:ext cx="868680" cy="50292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+mn-ea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8595359" y="5138928"/>
            <a:ext cx="868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33333"/>
                </a:solidFill>
              </a:defRPr>
            </a:pPr>
            <a:r>
              <a:rPr sz="1000">
                <a:latin typeface="+mn-ea"/>
              </a:rPr>
              <a:t>초과근무자</a:t>
            </a:r>
            <a:br>
              <a:rPr sz="1000">
                <a:latin typeface="+mn-ea"/>
              </a:rPr>
            </a:br>
            <a:r>
              <a:rPr sz="1000">
                <a:latin typeface="+mn-ea"/>
              </a:rPr>
              <a:t>확인</a:t>
            </a:r>
          </a:p>
        </p:txBody>
      </p:sp>
      <p:sp>
        <p:nvSpPr>
          <p:cNvPr id="92" name="Right Arrow 91"/>
          <p:cNvSpPr/>
          <p:nvPr/>
        </p:nvSpPr>
        <p:spPr>
          <a:xfrm>
            <a:off x="9464039" y="5239512"/>
            <a:ext cx="182880" cy="91440"/>
          </a:xfrm>
          <a:prstGeom prst="rightArrow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+mn-ea"/>
            </a:endParaRPr>
          </a:p>
        </p:txBody>
      </p:sp>
      <p:sp>
        <p:nvSpPr>
          <p:cNvPr id="93" name="Rounded Rectangle 92"/>
          <p:cNvSpPr/>
          <p:nvPr/>
        </p:nvSpPr>
        <p:spPr>
          <a:xfrm>
            <a:off x="9646919" y="5074920"/>
            <a:ext cx="868680" cy="502920"/>
          </a:xfrm>
          <a:prstGeom prst="roundRect">
            <a:avLst/>
          </a:prstGeom>
          <a:solidFill>
            <a:srgbClr val="F0E8FE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+mn-ea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9646919" y="5138928"/>
            <a:ext cx="868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33333"/>
                </a:solidFill>
              </a:defRPr>
            </a:pPr>
            <a:r>
              <a:rPr sz="1000">
                <a:latin typeface="+mn-ea"/>
              </a:rPr>
              <a:t>개인별</a:t>
            </a:r>
            <a:br>
              <a:rPr sz="1000">
                <a:latin typeface="+mn-ea"/>
              </a:rPr>
            </a:br>
            <a:r>
              <a:rPr sz="1000">
                <a:latin typeface="+mn-ea"/>
              </a:rPr>
              <a:t>근무승인</a:t>
            </a:r>
          </a:p>
        </p:txBody>
      </p:sp>
      <p:sp>
        <p:nvSpPr>
          <p:cNvPr id="95" name="Right Arrow 94"/>
          <p:cNvSpPr/>
          <p:nvPr/>
        </p:nvSpPr>
        <p:spPr>
          <a:xfrm>
            <a:off x="10515599" y="5239512"/>
            <a:ext cx="182880" cy="91440"/>
          </a:xfrm>
          <a:prstGeom prst="rightArrow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+mn-ea"/>
            </a:endParaRPr>
          </a:p>
        </p:txBody>
      </p:sp>
      <p:sp>
        <p:nvSpPr>
          <p:cNvPr id="96" name="Rounded Rectangle 95"/>
          <p:cNvSpPr/>
          <p:nvPr/>
        </p:nvSpPr>
        <p:spPr>
          <a:xfrm>
            <a:off x="10698480" y="5074920"/>
            <a:ext cx="868680" cy="502920"/>
          </a:xfrm>
          <a:prstGeom prst="roundRect">
            <a:avLst/>
          </a:prstGeom>
          <a:solidFill>
            <a:srgbClr val="E8F0FE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000">
              <a:latin typeface="+mn-ea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10698480" y="5138928"/>
            <a:ext cx="8686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33333"/>
                </a:solidFill>
              </a:defRPr>
            </a:pPr>
            <a:r>
              <a:rPr sz="1000">
                <a:latin typeface="+mn-ea"/>
              </a:rPr>
              <a:t>부서별</a:t>
            </a:r>
            <a:br>
              <a:rPr sz="1000">
                <a:latin typeface="+mn-ea"/>
              </a:rPr>
            </a:br>
            <a:r>
              <a:rPr sz="1000">
                <a:latin typeface="+mn-ea"/>
              </a:rPr>
              <a:t>근무승인</a:t>
            </a:r>
          </a:p>
        </p:txBody>
      </p:sp>
      <p:sp>
        <p:nvSpPr>
          <p:cNvPr id="98" name="Rectangle 97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rPr dirty="0" err="1"/>
              <a:t>해병대</a:t>
            </a:r>
            <a:r>
              <a:rPr dirty="0"/>
              <a:t> </a:t>
            </a:r>
            <a:r>
              <a:rPr dirty="0" err="1"/>
              <a:t>행정포탈</a:t>
            </a:r>
            <a:r>
              <a:rPr dirty="0"/>
              <a:t> | SYS01 </a:t>
            </a:r>
            <a:r>
              <a:rPr dirty="0" err="1"/>
              <a:t>초과근무관리체계</a:t>
            </a:r>
            <a:r>
              <a:rPr dirty="0"/>
              <a:t> | 2/3 | 2026-04-09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SYS01 초과근무관리체계 - 스토리보드 (Storyboard)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822960"/>
            <a:ext cx="278892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850392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t>시나리오 1: 평일 초과근무 사전신청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2788920" cy="22860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" y="1161288"/>
            <a:ext cx="2697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33333"/>
                </a:solidFill>
              </a:defRPr>
            </a:pPr>
            <a:r>
              <a:t>액터: 신청자 (중위 김해군)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27889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7472" y="14173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</a:defRPr>
            </a:pPr>
            <a:r>
              <a:t>1. 메인포탈 로그인 &gt; 초과근무관리 클릭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178308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</a:defRPr>
            </a:pPr>
            <a:r>
              <a:t>2. 좌측메뉴 '신청서 관리 &gt; 신청서 작성' 이동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214884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</a:defRPr>
            </a:pPr>
            <a:r>
              <a:t>3. 신청구분 '사전신청' 선택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251460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</a:defRPr>
            </a:pPr>
            <a:r>
              <a:t>4. 근무일 2026-04-09, 시작 18:00, 종료 21:00 입력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288036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</a:defRPr>
            </a:pPr>
            <a:r>
              <a:t>5. 시스템이 초과근무시간 '3시간' 자동계산 표시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32461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</a:defRPr>
            </a:pPr>
            <a:r>
              <a:t>6. 당직개소 '본부 당직실' 선택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361188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</a:defRPr>
            </a:pPr>
            <a:r>
              <a:t>7. 초과근무 내용 '전투준비태세 점검 야간작전 지원' 입력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" y="397764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</a:defRPr>
            </a:pPr>
            <a:r>
              <a:t>8. [신청] 클릭 &gt; 결재선 자동 배정 확인 팝업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" y="434340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</a:defRPr>
            </a:pPr>
            <a:r>
              <a:t>9. 결재선: 김해군(신청)&gt;이소령(중간)&gt;박대령(최종)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" y="470916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</a:defRPr>
            </a:pPr>
            <a:r>
              <a:t>10. [확인] &gt; 신청완료 메시지 + 목록에 '결재대기' 표시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5303520"/>
            <a:ext cx="2788920" cy="640080"/>
          </a:xfrm>
          <a:prstGeom prst="rect">
            <a:avLst/>
          </a:prstGeom>
          <a:solidFill>
            <a:srgbClr val="FDEDED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7472" y="5330952"/>
            <a:ext cx="2651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규칙/제약사항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" y="54864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333333"/>
                </a:solidFill>
              </a:defRPr>
            </a:pPr>
            <a:r>
              <a:t>최대인정시간(4h) 이내 / MAC 주소 미확인(사전신청) / 결재선 자동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46120" y="822960"/>
            <a:ext cx="278892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91840" y="850392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t>시나리오 2: 결재자 승인/반려 처리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46120" y="1143000"/>
            <a:ext cx="2788920" cy="228600"/>
          </a:xfrm>
          <a:prstGeom prst="rect">
            <a:avLst/>
          </a:prstGeom>
          <a:solidFill>
            <a:srgbClr val="E8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91840" y="1161288"/>
            <a:ext cx="2697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33333"/>
                </a:solidFill>
              </a:defRPr>
            </a:pPr>
            <a:r>
              <a:t>액터: 결재자 (소령 이철수)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46120" y="1371600"/>
            <a:ext cx="27889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319272" y="14173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</a:defRPr>
            </a:pPr>
            <a:r>
              <a:t>1. 로그인 시 알림 뱃지 '결재대기 5건' 확인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19272" y="178308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</a:defRPr>
            </a:pPr>
            <a:r>
              <a:t>2. '신청서 관리 &gt; 결재' 메뉴 이동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19272" y="214884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</a:defRPr>
            </a:pPr>
            <a:r>
              <a:t>3. 결재대기 목록에서 기간/부대 필터 조회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19272" y="251460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</a:defRPr>
            </a:pPr>
            <a:r>
              <a:t>4. 김해군 신청서 클릭 &gt; 하단 상세 정보 표시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19272" y="288036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</a:defRPr>
            </a:pPr>
            <a:r>
              <a:t>5. 근무내용/시간/당직개소 확인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19272" y="32461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</a:defRPr>
            </a:pPr>
            <a:r>
              <a:t>6. 체크박스 선택 후 [승인] 클릭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19272" y="361188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</a:defRPr>
            </a:pPr>
            <a:r>
              <a:t>7. 시스템: 상태 '결재대기'&gt;'승인완료' 변경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19272" y="397764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</a:defRPr>
            </a:pPr>
            <a:r>
              <a:t>8. 박대령(최종결재자)에게 알림 자동 발송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19272" y="434340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</a:defRPr>
            </a:pPr>
            <a:r>
              <a:t>9. 반려 시: 반려사유 입력 필수 &gt; [반려] 클릭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19272" y="470916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</a:defRPr>
            </a:pPr>
            <a:r>
              <a:t>10. 일괄 승인: 체크박스 다건 선택 &gt; [일괄승인]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46120" y="5303520"/>
            <a:ext cx="2788920" cy="640080"/>
          </a:xfrm>
          <a:prstGeom prst="rect">
            <a:avLst/>
          </a:prstGeom>
          <a:solidFill>
            <a:srgbClr val="FDEDED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319272" y="5330952"/>
            <a:ext cx="2651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규칙/제약사항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19272" y="54864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333333"/>
                </a:solidFill>
              </a:defRPr>
            </a:pPr>
            <a:r>
              <a:t>결재 이후 수정/삭제 불가(관리자만) / 반려사유 필수 / 일괄처리 가능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822960"/>
            <a:ext cx="278892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263640" y="850392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t>시나리오 3: 월말결산 및 현황 조회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1143000"/>
            <a:ext cx="2788920" cy="228600"/>
          </a:xfrm>
          <a:prstGeom prst="rect">
            <a:avLst/>
          </a:prstGeom>
          <a:solidFill>
            <a:srgbClr val="FDF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263640" y="1161288"/>
            <a:ext cx="2697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33333"/>
                </a:solidFill>
              </a:defRPr>
            </a:pPr>
            <a:r>
              <a:t>액터: 부대관리자 (대위 박관리)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17920" y="1371600"/>
            <a:ext cx="27889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291072" y="14173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</a:defRPr>
            </a:pPr>
            <a:r>
              <a:t>1. '신청서 관리 &gt; 월말결산' 메뉴 이동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91072" y="178308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</a:defRPr>
            </a:pPr>
            <a:r>
              <a:t>2. 대상월 '2026년 04월', 부대 '해병대사령부' 선택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91072" y="214884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</a:defRPr>
            </a:pPr>
            <a:r>
              <a:t>3. 결산현황: 총 247건, 승인 231건, 반려 16건 표시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91072" y="251460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</a:defRPr>
            </a:pPr>
            <a:r>
              <a:t>4. 총 초과근무시간 741h, 인당평균 12.4h 확인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91072" y="288036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</a:defRPr>
            </a:pPr>
            <a:r>
              <a:t>5. 미결재건 16건 확인 &gt; 기간 내 처리 독촉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91072" y="32461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</a:defRPr>
            </a:pPr>
            <a:r>
              <a:t>6. [결산실행] 클릭 &gt; 결산 데이터 확정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91072" y="361188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</a:defRPr>
            </a:pPr>
            <a:r>
              <a:t>7. [엑셀다운로드] &gt; 부서별/개인별 시간 엑셀 저장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91072" y="397764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</a:defRPr>
            </a:pPr>
            <a:r>
              <a:t>8. '현황조회 &gt; 부대현황' 이동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91072" y="434340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</a:defRPr>
            </a:pPr>
            <a:r>
              <a:t>9. 부서별 신청/승인/반려/시간합계 테이블 확인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91072" y="470916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</a:defRPr>
            </a:pPr>
            <a:r>
              <a:t>10. [마감] &gt; 마감기한(04-30) 이후 수정 불가 처리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17920" y="5303520"/>
            <a:ext cx="2788920" cy="640080"/>
          </a:xfrm>
          <a:prstGeom prst="rect">
            <a:avLst/>
          </a:prstGeom>
          <a:solidFill>
            <a:srgbClr val="FDEDED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291072" y="5330952"/>
            <a:ext cx="2651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규칙/제약사항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91072" y="54864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333333"/>
                </a:solidFill>
              </a:defRPr>
            </a:pPr>
            <a:r>
              <a:t>마감기한 설정 필수 / 결산 후 엑셀 다운로드 / 마감 후 수정불가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189720" y="822960"/>
            <a:ext cx="2788920" cy="3200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235440" y="850392"/>
            <a:ext cx="2697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</a:defRPr>
            </a:pPr>
            <a:r>
              <a:t>시나리오 4: 당직업무 초과근무자 관리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189720" y="1143000"/>
            <a:ext cx="2788920" cy="228600"/>
          </a:xfrm>
          <a:prstGeom prst="rect">
            <a:avLst/>
          </a:prstGeom>
          <a:solidFill>
            <a:srgbClr val="F0E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235440" y="1161288"/>
            <a:ext cx="2697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33333"/>
                </a:solidFill>
              </a:defRPr>
            </a:pPr>
            <a:r>
              <a:t>액터: 당직자 (상사 최당직)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189720" y="1371600"/>
            <a:ext cx="27889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262872" y="14173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</a:defRPr>
            </a:pPr>
            <a:r>
              <a:t>1. '당직업무 &gt; 초과근무자 현황' 메뉴 이동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262872" y="178308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</a:defRPr>
            </a:pPr>
            <a:r>
              <a:t>2. 금일 초과근무 승인자 목록 자동 표시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262872" y="214884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</a:defRPr>
            </a:pPr>
            <a:r>
              <a:t>3. 출입현황 확인: 입실 12명, 퇴실 3명, 미퇴실 9명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262872" y="251460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</a:defRPr>
            </a:pPr>
            <a:r>
              <a:t>4. 개인별 시작/종료시간, 당직개소 매칭 확인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262872" y="288036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</a:defRPr>
            </a:pPr>
            <a:r>
              <a:t>5. MAC 주소 확인 (당직PC Client 연동)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262872" y="32461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</a:defRPr>
            </a:pPr>
            <a:r>
              <a:t>6. 미승인 사후신청 건 확인 &gt; 개인별 승인 처리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262872" y="361188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</a:defRPr>
            </a:pPr>
            <a:r>
              <a:t>7. '당직업무 &gt; 당직개소 관리' 이동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262872" y="397764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</a:defRPr>
            </a:pPr>
            <a:r>
              <a:t>8. 당직개소 등록/수정/삭제 (개소명/위치/PC-MAC)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262872" y="434340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</a:defRPr>
            </a:pPr>
            <a:r>
              <a:t>9. '당직업무 &gt; 당직개소 변경' 이동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262872" y="470916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333333"/>
                </a:solidFill>
              </a:defRPr>
            </a:pPr>
            <a:r>
              <a:t>10. 당직개소 변경 이력 조회 / 변경 사유 입력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189720" y="5303520"/>
            <a:ext cx="2788920" cy="640080"/>
          </a:xfrm>
          <a:prstGeom prst="rect">
            <a:avLst/>
          </a:prstGeom>
          <a:solidFill>
            <a:srgbClr val="FDEDED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9262872" y="5330952"/>
            <a:ext cx="26517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E74C3C"/>
                </a:solidFill>
              </a:defRPr>
            </a:pPr>
            <a:r>
              <a:t>규칙/제약사항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262872" y="548640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333333"/>
                </a:solidFill>
              </a:defRPr>
            </a:pPr>
            <a:r>
              <a:t>당직 PC MAC 주소 확인 별도 Client / 개인별+부서별 승인 분리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</a:defRPr>
            </a:pPr>
            <a:r>
              <a:t>해병대 행정포탈 | SYS01 초과근무관리체계 | 3/3 | 2026-04-09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1186</Words>
  <Application>Microsoft Office PowerPoint</Application>
  <PresentationFormat>사용자 지정</PresentationFormat>
  <Paragraphs>159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Jaewoo Park</cp:lastModifiedBy>
  <cp:revision>2</cp:revision>
  <dcterms:created xsi:type="dcterms:W3CDTF">2013-01-27T09:14:16Z</dcterms:created>
  <dcterms:modified xsi:type="dcterms:W3CDTF">2026-04-09T07:40:03Z</dcterms:modified>
  <cp:category/>
</cp:coreProperties>
</file>