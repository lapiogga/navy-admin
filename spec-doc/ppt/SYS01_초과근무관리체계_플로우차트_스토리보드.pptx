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플로우차트 (Flowchart)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초과근무 신청 → 결재 → 당직확인 → 월말결산  프로세스 흐름도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1/2  |  2026-04-09</a:t>
            </a:r>
          </a:p>
        </p:txBody>
      </p:sp>
      <p:sp>
        <p:nvSpPr>
          <p:cNvPr id="7" name="Oval 6"/>
          <p:cNvSpPr/>
          <p:nvPr/>
        </p:nvSpPr>
        <p:spPr>
          <a:xfrm>
            <a:off x="5120640" y="82296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시작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5751195" y="1078992"/>
            <a:ext cx="1905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5715000" y="10972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초과근무 신청서 관리 접속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1195" y="1444752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5715000" y="15087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12"/>
          <p:cNvSpPr/>
          <p:nvPr/>
        </p:nvSpPr>
        <p:spPr>
          <a:xfrm>
            <a:off x="4937760" y="160020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신청구분?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645920"/>
            <a:ext cx="1463040" cy="320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사전신청
(근무일 전 작성)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796415"/>
            <a:ext cx="13716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60477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사전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645920"/>
            <a:ext cx="1463040" cy="3200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사후신청
(사유 입력 필수)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796415"/>
            <a:ext cx="13716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604772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사후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1195" y="2011680"/>
            <a:ext cx="19050" cy="137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5715000" y="21488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24028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신청서 작성 / 제출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51195" y="2496312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5715000" y="25603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cision 24"/>
          <p:cNvSpPr/>
          <p:nvPr/>
        </p:nvSpPr>
        <p:spPr>
          <a:xfrm>
            <a:off x="4937760" y="265176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유효성
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720340"/>
            <a:ext cx="1463040" cy="27432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[시스템 알럿]
입력 정보 확인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847975"/>
            <a:ext cx="18288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6766560" y="281178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656332"/>
            <a:ext cx="228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3333"/>
                </a:solidFill>
                <a:latin typeface="KoPub돋움체 Medium"/>
              </a:rP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04495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KoPub돋움체 Medium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51195" y="3063240"/>
            <a:ext cx="1905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5715000" y="3108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320040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결재 상신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51195" y="3456432"/>
            <a:ext cx="1905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5715000" y="3502152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ecision 35"/>
          <p:cNvSpPr/>
          <p:nvPr/>
        </p:nvSpPr>
        <p:spPr>
          <a:xfrm>
            <a:off x="4937760" y="3593592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중간결재자
검토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685032"/>
            <a:ext cx="1371600" cy="2286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반려사유 → 신청자 통보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789807"/>
            <a:ext cx="18288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6766560" y="3753612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3598164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3333"/>
                </a:solidFill>
                <a:latin typeface="KoPub돋움체 Medium"/>
              </a:rPr>
              <a:t>반려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986784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KoPub돋움체 Medium"/>
              </a:rPr>
              <a:t>승인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51195" y="4005072"/>
            <a:ext cx="19050" cy="640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5715000" y="40690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ecision 43"/>
          <p:cNvSpPr/>
          <p:nvPr/>
        </p:nvSpPr>
        <p:spPr>
          <a:xfrm>
            <a:off x="4937760" y="4160520"/>
            <a:ext cx="1645920" cy="41148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  <a:latin typeface="KoPub돋움체 Medium"/>
              </a:rPr>
              <a:t>최종결재자
검토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251960"/>
            <a:ext cx="1371600" cy="2286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C3333"/>
                </a:solidFill>
                <a:latin typeface="KoPub돋움체 Medium"/>
              </a:rPr>
              <a:t>반려사유 → 신청자 통보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4356735"/>
            <a:ext cx="182880" cy="190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6766560" y="4320540"/>
            <a:ext cx="9144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16509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3333"/>
                </a:solidFill>
                <a:latin typeface="KoPub돋움체 Medium"/>
              </a:rPr>
              <a:t>반려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553712"/>
            <a:ext cx="2743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  <a:latin typeface="KoPub돋움체 Medium"/>
              </a:rPr>
              <a:t>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51195" y="4572000"/>
            <a:ext cx="1905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 rot="10800000">
            <a:off x="5715000" y="461772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54880" y="470916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당직자 확인 / 초과근무 시간 확정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51195" y="4965192"/>
            <a:ext cx="1905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10800000">
            <a:off x="5715000" y="49834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54880" y="5074920"/>
            <a:ext cx="2011680" cy="25603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33333"/>
                </a:solidFill>
                <a:latin typeface="KoPub돋움체 Medium"/>
              </a:rPr>
              <a:t>월말결산 집계 반영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51195" y="5330952"/>
            <a:ext cx="1905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10800000">
            <a:off x="5715000" y="534924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120640" y="5440680"/>
            <a:ext cx="1280160" cy="25603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종료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1051560"/>
            <a:ext cx="2926080" cy="1389888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1051560"/>
            <a:ext cx="2926080" cy="201168"/>
          </a:xfrm>
          <a:prstGeom prst="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" y="1069848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366"/>
                </a:solidFill>
                <a:latin typeface="KoPub돋움체 Medium"/>
              </a:rPr>
              <a:t>신청서 입력 항목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" y="1271016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신청구분: 사전신청 / 사후신청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" y="1412748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 종류: 평일 / 공휴일 / 훈련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" y="1554480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근무일자: YYYY-MM-DD (달력 선택)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" y="1696212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시작시간 / 종료시간 (30분 단위)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1837944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초과근무시간: 자동계산 (종료-시작)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" y="1979676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초과근무 내용 (텍스트 입력)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032" y="2121408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 선택 (드롭다운)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6032" y="2263140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신청자 IP 자동 수집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08960" y="235877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2880" y="4526280"/>
            <a:ext cx="2926080" cy="822959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2880" y="4526280"/>
            <a:ext cx="2926080" cy="201168"/>
          </a:xfrm>
          <a:prstGeom prst="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7744" y="4544568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366"/>
                </a:solidFill>
                <a:latin typeface="KoPub돋움체 Medium"/>
              </a:rPr>
              <a:t>당직업무 세부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6032" y="4745736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당직개소별 초과근무자 실시간 관리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032" y="4887468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출근 / 퇴근 시간 자동 기록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032" y="5029200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당직개소 변경 시 승인 프로세스 필요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6032" y="5170932"/>
            <a:ext cx="2779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IP 기반 위치 확인 / 이상접속 차단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08960" y="4827651"/>
            <a:ext cx="164592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86800" y="2423160"/>
            <a:ext cx="3291840" cy="96469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686800" y="2423160"/>
            <a:ext cx="3291840" cy="201168"/>
          </a:xfrm>
          <a:prstGeom prst="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41664" y="2441448"/>
            <a:ext cx="3182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366"/>
                </a:solidFill>
                <a:latin typeface="KoPub돋움체 Medium"/>
              </a:rPr>
              <a:t>유효성 검증 규칙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59952" y="2642616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필수값 미입력 시 알럿 표시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59952" y="2784348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최대인정시간 초과 시 경고 표시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59952" y="2926080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사후신청: 사유 입력 필수 검증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59952" y="3067812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공휴일/훈련 별도 시간계산 적용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59952" y="3209544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IP 중복 접속 체크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86800" y="3584448"/>
            <a:ext cx="3291840" cy="964692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686800" y="3584448"/>
            <a:ext cx="3291840" cy="201168"/>
          </a:xfrm>
          <a:prstGeom prst="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41664" y="3602736"/>
            <a:ext cx="3182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366"/>
                </a:solidFill>
                <a:latin typeface="KoPub돋움체 Medium"/>
              </a:rPr>
              <a:t>결재 규칙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59952" y="3803904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중간결재 → 최종결재 순차 진행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59952" y="3945636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반려 시 사유 입력 필수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59952" y="4087368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신청자 실시간 알림 (결재 현황)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59952" y="4229100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일괄결재 지원 (복수 건 동시 처리)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59952" y="4370832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대리결재 설정 가능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86800" y="4892040"/>
            <a:ext cx="3291840" cy="822959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86800" y="4892040"/>
            <a:ext cx="3291840" cy="201168"/>
          </a:xfrm>
          <a:prstGeom prst="rect">
            <a:avLst/>
          </a:prstGeom>
          <a:solidFill>
            <a:srgbClr val="E8F0FE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41664" y="4910328"/>
            <a:ext cx="3182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366"/>
                </a:solidFill>
                <a:latin typeface="KoPub돋움체 Medium"/>
              </a:rPr>
              <a:t>월말결산 프로세스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59952" y="5111496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월 단위 자동 마감 처리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59952" y="5253228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부대별 / 개인별 통계 집계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59952" y="5394960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결재 후 확정 (수정 불가)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59952" y="5536692"/>
            <a:ext cx="31455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KoPub돋움체 Medium"/>
              </a:rPr>
              <a:t>• Excel / PDF 자료 출력 지원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766560" y="5193411"/>
            <a:ext cx="192024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KoPub돋움체 Medium"/>
              </a:rPr>
              <a:t>SYS01 초과근무관리체계 — 스토리보드 (Storyboard)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KoPub돋움체 Medium"/>
              </a:rPr>
              <a:t>7개 메뉴, 27개 하위기능, 99개 단위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KoPub돋움체 Medium"/>
              </a:rPr>
              <a:t>해병대 행정포탈  |  SYS01 초과근무관리체계  |  2/2  |  2026-04-09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메인 포탈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19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04672"/>
            <a:ext cx="1463040" cy="301752"/>
          </a:xfrm>
          <a:prstGeom prst="round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33333"/>
                </a:solidFill>
                <a:latin typeface="KoPub돋움체 Medium"/>
              </a:rPr>
              <a:t>로그인 인증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60" y="886968"/>
            <a:ext cx="274320" cy="13716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804672"/>
            <a:ext cx="3017520" cy="30175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SYS01 초과근무관리체계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0035" y="1106424"/>
            <a:ext cx="19050" cy="8229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0200" y="1179195"/>
            <a:ext cx="89154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90675" y="118872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5544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2475" y="118872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45262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34275" y="118872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4980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06075" y="118872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0469880" y="132588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14447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신청서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1691640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신청서 작성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184708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사전/사후 신청 구분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198424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초과근무 종류 (평일/공휴일/훈련)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12140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시작/종료시간, 당직개소 선택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" y="2258568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신청서 결재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41401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중간결재 → 최종결재 순차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255117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승인/반려/보류 처리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" y="268833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일괄처리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843784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복수 인원 일괄 신청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" y="2980944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4  일괄처리 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136392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일괄 건 결재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" y="3273552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5  월말결산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429000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월 단위 초과근무 마감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566160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부대별/개인별 집계 확정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55264" y="14447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현황조회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3552" y="1691640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나의 근무현황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184708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월별/기간별 초과근무 조회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3552" y="1984248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나의 부재관리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213969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부재 사유/기간 등록관리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3552" y="227685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부대 근무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2432304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부대원 전체 근무 현황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3552" y="2569464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4  부대 근무 통계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2724912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차트/그래프 통계 시각화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3552" y="2862072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5  부대 부재 현황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3017520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6  월말결산 현황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73552" y="3172968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7  자료 출력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332841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Excel/PDF 다운로드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27064" y="14447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부대관리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1691640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부대인원 조회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184708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군번/계급/성명 검색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1984248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최대인정시간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213969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계급별/일별 한도 설정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27685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근무시간 관리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80" y="2432304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기본 근무시간/요일별 설정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2569464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4  공휴일 관리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2724912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공휴일/보상휴무 등록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2862072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5  결재선 관리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3017520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중간/최종 결재자 지정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1417320"/>
            <a:ext cx="2743200" cy="260604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0" y="1417320"/>
            <a:ext cx="27432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98864" y="1444752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당직업무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7152" y="1691640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초과근무자 관리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184708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당일 근무자 출퇴근 확인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1984248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실시간 인원 현황 조회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17152" y="2121408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당직개소 관리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2276856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당직개소 목록 CRUD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7152" y="2414016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당직개소 변경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2569464"/>
            <a:ext cx="2487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임시 변경 신청/승인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7152" y="2706624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4  개인별 당직개소 승인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17152" y="2862072"/>
            <a:ext cx="2596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5  개인별 부서 이동 승인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4951" y="4023360"/>
            <a:ext cx="19050" cy="914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48840" y="4105275"/>
            <a:ext cx="795528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3931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 rot="10800000">
            <a:off x="210312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1695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Isosceles Triangle 83"/>
          <p:cNvSpPr/>
          <p:nvPr/>
        </p:nvSpPr>
        <p:spPr>
          <a:xfrm rot="10800000">
            <a:off x="608076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94595" y="4114800"/>
            <a:ext cx="19050" cy="228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sosceles Triangle 85"/>
          <p:cNvSpPr/>
          <p:nvPr/>
        </p:nvSpPr>
        <p:spPr>
          <a:xfrm rot="10800000">
            <a:off x="10058400" y="4251960"/>
            <a:ext cx="91440" cy="91440"/>
          </a:xfrm>
          <a:prstGeom prst="triangl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004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04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4904" y="4370832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개인설정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" y="4617720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개인설정 정보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4773168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알림 설정 (결재/승인 알림)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4910328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기본 근무 설정값 지정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3192" y="5047488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개인별 당직개소 설정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5202936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기본 당직개소 지정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192" y="5340096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개인별 부서 설정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5495544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소속 부서 변경 신청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8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9768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52544" y="4370832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게시판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70832" y="4617720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공지사항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80560" y="4773168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목록/상세 조회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80560" y="4910328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등록/수정/삭제 (관리자)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70832" y="5047488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질의응답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80560" y="5202936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질문 등록 / 답변 확인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80560" y="5340096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관리자 답변 작성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75320" y="4343400"/>
            <a:ext cx="3657600" cy="1965960"/>
          </a:xfrm>
          <a:prstGeom prst="rect">
            <a:avLst/>
          </a:prstGeom>
          <a:noFill/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275320" y="4343400"/>
            <a:ext cx="3657600" cy="23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30184" y="4370832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oPub돋움체 Medium"/>
              </a:rPr>
              <a:t>관리자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48472" y="4617720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1  체계담당자 관리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58200" y="4773168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시스템 관리자 지정/해제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48472" y="4910328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2  메뉴관리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58200" y="5065776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메뉴 구조 편집 / 권한 설정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48472" y="5202936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3  메시지관리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58200" y="5358384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시스템 메시지 편집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48472" y="5495544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4  로그조회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58200" y="5650992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사용자 활동 로그 조회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48472" y="5788152"/>
            <a:ext cx="35112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KoPub돋움체 Medium"/>
              </a:rPr>
              <a:t>5  코드관리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58200" y="5943600"/>
            <a:ext cx="34015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KoPub돋움체 Medium"/>
              </a:rPr>
              <a:t>• 공통코드 CRUD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