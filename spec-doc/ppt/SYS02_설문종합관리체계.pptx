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SYS02 설문종합관리체계 — 목표 모델 (Goal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설문종합관리체계의 목표 · 프로세스 · 참여주체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SYS02 설문종합관리체계  |  1/4  |  2026-04-09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326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822960"/>
            <a:ext cx="6400800" cy="713232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3366"/>
                </a:solidFill>
                <a:latin typeface="KoPub돋움체 Medium"/>
              </a:rPr>
              <a:t>설문 운영의 체계화와 응답 데이터 활용 극대화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KoPub돋움체 Medium"/>
              </a:rPr>
              <a:t>(설문 생성·승인·배포·응답·분석의 전 과정 디지털화 및 자동화)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9835" y="1536192"/>
            <a:ext cx="19050" cy="3566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6263640" y="18745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74552" cy="42519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4114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411480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업무 프로세스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6517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설문 생성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설문명·기간·대상자·문항 작성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9395" y="31089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2743200" y="32461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33375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승인 처리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관리자 검토 → 승인/반려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395" y="37947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2743200" y="39319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0233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설문 배포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대상자에게 설문 공개 (active)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9395" y="44805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2743200" y="46177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7091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응답 수집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문항별 응답 제출 · 참여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395" y="5166360"/>
            <a:ext cx="19050" cy="1554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2743200" y="53035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5394960"/>
            <a:ext cx="347472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3366"/>
                </a:solidFill>
                <a:latin typeface="KoPub돋움체 Medium"/>
              </a:rPr>
              <a:t>결과 분석</a:t>
            </a:r>
          </a:p>
          <a:p>
            <a:pPr algn="ctr"/>
            <a:r>
              <a:rPr sz="1000" b="0">
                <a:solidFill>
                  <a:srgbClr val="666666"/>
                </a:solidFill>
                <a:latin typeface="KoPub돋움체 Medium"/>
              </a:rPr>
              <a:t>통계·차트 시각화 · 엑셀 출력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2194560"/>
            <a:ext cx="633679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2194560"/>
            <a:ext cx="633679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주요 참여주체</a:t>
            </a:r>
          </a:p>
        </p:txBody>
      </p:sp>
      <p:sp>
        <p:nvSpPr>
          <p:cNvPr id="27" name="Freeform 26"/>
          <p:cNvSpPr/>
          <p:nvPr/>
        </p:nvSpPr>
        <p:spPr>
          <a:xfrm>
            <a:off x="8289036" y="29032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0" y="0"/>
                </a:moveTo>
                <a:lnTo>
                  <a:pt x="1187840" y="68580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476876" y="3589020"/>
            <a:ext cx="0" cy="1371599"/>
          </a:xfrm>
          <a:custGeom>
            <a:avLst/>
            <a:gdLst/>
            <a:ahLst/>
            <a:cxnLst/>
            <a:rect l="l" t="t" r="r" b="b"/>
            <a:pathLst>
              <a:path w="0" h="1371599">
                <a:moveTo>
                  <a:pt x="0" y="0"/>
                </a:moveTo>
                <a:lnTo>
                  <a:pt x="0" y="1371599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289036" y="4960619"/>
            <a:ext cx="1187840" cy="685801"/>
          </a:xfrm>
          <a:custGeom>
            <a:avLst/>
            <a:gdLst/>
            <a:ahLst/>
            <a:cxnLst/>
            <a:rect l="l" t="t" r="r" b="b"/>
            <a:pathLst>
              <a:path w="1187840" h="685801">
                <a:moveTo>
                  <a:pt x="1187840" y="0"/>
                </a:moveTo>
                <a:lnTo>
                  <a:pt x="0" y="685801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7101196" y="49606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1187840" y="685800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101196" y="3589020"/>
            <a:ext cx="0" cy="1371600"/>
          </a:xfrm>
          <a:custGeom>
            <a:avLst/>
            <a:gdLst/>
            <a:ahLst/>
            <a:cxnLst/>
            <a:rect l="l" t="t" r="r" b="b"/>
            <a:pathLst>
              <a:path w="0" h="1371600">
                <a:moveTo>
                  <a:pt x="0" y="1371600"/>
                </a:move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101196" y="2903220"/>
            <a:ext cx="1187840" cy="685800"/>
          </a:xfrm>
          <a:custGeom>
            <a:avLst/>
            <a:gdLst/>
            <a:ahLst/>
            <a:cxnLst/>
            <a:rect l="l" t="t" r="r" b="b"/>
            <a:pathLst>
              <a:path w="1187840" h="685800">
                <a:moveTo>
                  <a:pt x="0" y="685800"/>
                </a:moveTo>
                <a:lnTo>
                  <a:pt x="1187840" y="0"/>
                </a:lnTo>
                <a:close/>
              </a:path>
            </a:pathLst>
          </a:custGeom>
          <a:noFill/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04988" y="25191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설문
작성자</a:t>
            </a:r>
          </a:p>
        </p:txBody>
      </p:sp>
      <p:sp>
        <p:nvSpPr>
          <p:cNvPr id="34" name="Oval 33"/>
          <p:cNvSpPr/>
          <p:nvPr/>
        </p:nvSpPr>
        <p:spPr>
          <a:xfrm>
            <a:off x="9092828" y="32049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승인
관리자</a:t>
            </a:r>
          </a:p>
        </p:txBody>
      </p:sp>
      <p:sp>
        <p:nvSpPr>
          <p:cNvPr id="35" name="Oval 34"/>
          <p:cNvSpPr/>
          <p:nvPr/>
        </p:nvSpPr>
        <p:spPr>
          <a:xfrm>
            <a:off x="9092828" y="4576571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응답자
(군인)</a:t>
            </a:r>
          </a:p>
        </p:txBody>
      </p:sp>
      <p:sp>
        <p:nvSpPr>
          <p:cNvPr id="36" name="Oval 35"/>
          <p:cNvSpPr/>
          <p:nvPr/>
        </p:nvSpPr>
        <p:spPr>
          <a:xfrm>
            <a:off x="7904988" y="52623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대상자
관리</a:t>
            </a:r>
          </a:p>
        </p:txBody>
      </p:sp>
      <p:sp>
        <p:nvSpPr>
          <p:cNvPr id="37" name="Oval 36"/>
          <p:cNvSpPr/>
          <p:nvPr/>
        </p:nvSpPr>
        <p:spPr>
          <a:xfrm>
            <a:off x="6717148" y="45765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카테고리
/템플릿</a:t>
            </a:r>
          </a:p>
        </p:txBody>
      </p:sp>
      <p:sp>
        <p:nvSpPr>
          <p:cNvPr id="38" name="Oval 37"/>
          <p:cNvSpPr/>
          <p:nvPr/>
        </p:nvSpPr>
        <p:spPr>
          <a:xfrm>
            <a:off x="6717148" y="3204972"/>
            <a:ext cx="768096" cy="76809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시스템
(자동처리)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355080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KoPub돋움체 Medium"/>
              </a:rPr>
              <a:t>설문종합관리 운영체계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SYS02 설문종합관리체계 — 플로우차트 (Flowchart)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설문 생성 → 승인 → 배포 → 응답 → 결과분석 프로세스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SYS02 설문종합관리체계  |  2/4  |  2026-04-09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82296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1195" y="107899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5715000" y="10972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생성 (기본정보 입력)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51195" y="144475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5715000" y="15087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60020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문항 편집 (추가/수정/순서변경)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51195" y="185623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715000" y="19202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01168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승인 요청 (draft → submitted)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51195" y="226771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5715000" y="23317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16"/>
          <p:cNvSpPr/>
          <p:nvPr/>
        </p:nvSpPr>
        <p:spPr>
          <a:xfrm>
            <a:off x="4937760" y="242316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관리자
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500884"/>
            <a:ext cx="1463040" cy="256032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반려사유 → 작성자 통보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19375"/>
            <a:ext cx="201168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6766560" y="258318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42773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3333"/>
                </a:solidFill>
                <a:latin typeface="KoPub돋움체 Medium"/>
              </a:rPr>
              <a:t>반려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1635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KoPub돋움체 Medium"/>
              </a:rPr>
              <a:t>승인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51195" y="2834640"/>
            <a:ext cx="19050" cy="1097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5715000" y="2926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0175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배포 (approved → active)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51195" y="327355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5715000" y="33375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42900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응답자 설문 응답 수집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1195" y="368503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5715000" y="37490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ecision 30"/>
          <p:cNvSpPr/>
          <p:nvPr/>
        </p:nvSpPr>
        <p:spPr>
          <a:xfrm>
            <a:off x="4937760" y="384048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마감조건
충족?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931920"/>
            <a:ext cx="1371600" cy="2286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응답 기간 연장 / 미응답 알림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036695"/>
            <a:ext cx="201168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6766560" y="400050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845052"/>
            <a:ext cx="228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3333"/>
                </a:solidFill>
                <a:latin typeface="KoPub돋움체 Medium"/>
              </a:rP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23367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KoPub돋움체 Medium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1195" y="4251960"/>
            <a:ext cx="19050" cy="1097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0800000">
            <a:off x="5715000" y="434340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443484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마감 (active → closed)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51195" y="469087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5715000" y="4754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48463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결과 분석 (통계/차트 생성)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1195" y="5102352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0800000">
            <a:off x="5715000" y="51663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54880" y="525780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결과 내보내기 (엑셀 다운로드)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51195" y="5513832"/>
            <a:ext cx="1905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5715000" y="55321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20640" y="562356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종료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" y="868680"/>
            <a:ext cx="2926080" cy="1485900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[설문 기본정보 입력항목]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설문명 (텍스트, 100자)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설문내용/개요 (TextArea)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시작일 / 종료일 (DatePicker)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대상 구분: 부대/직급/전체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대상 부대·직급·직책·성별 선택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결과 공개 여부 (Switch)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익명 여부 (Switch)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첨부: 승인공문, 설문지, 보안검토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130721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82880" y="2377440"/>
            <a:ext cx="2926080" cy="1202436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[문항 편집 세부]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문항 유형: 단일선택/복수선택/주관식/평점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문항 내용 입력 (500자)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선택지 추가/삭제 (radio/checkbox)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필수 응답 여부 설정 (Switch)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드래그앤드롭 순서 변경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엑셀 양식 업로드/다운로드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60" y="171869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86800" y="1508760"/>
            <a:ext cx="3291840" cy="1060704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[설문 상태 전이]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draft(작성중) → submitted(제출됨)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submitted → approved(승인) / rejected(반려)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approved → active(진행중)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active → closed(마감)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반려 시 반려사유 입력 필수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3017520"/>
            <a:ext cx="3291840" cy="1060704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[응답 처리 규칙]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active 상태 설문만 응답 가능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필수 문항 미입력 시 제출 차단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익명 설문: 응답자 정보 비표시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1인 1회 응답 원칙 (중복 방지)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임시 저장 기능 지원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572000"/>
            <a:ext cx="3291840" cy="1060704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76200" bIns="50800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03366"/>
                </a:solidFill>
                <a:latin typeface="KoPub돋움체 Medium"/>
              </a:rPr>
              <a:t>[결과 분석 기능]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선택형: Bar 차트 + 비율(%) 표시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주관식: 텍스트 목록 (페이지네이션)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평점형: 평균 평점 + 분포 차트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응답률 통계: 대상자/응답자/응답률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333333"/>
                </a:solidFill>
                <a:latin typeface="KoPub돋움체 Medium"/>
              </a:rPr>
              <a:t>• 엑셀(CSV) 다운로드 지원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4964811"/>
            <a:ext cx="192024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SYS02 설문종합관리체계 — 스토리보드 (Storyboard)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5개 메뉴, 6개 관리탭, 31개 단위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SYS02 설문종합관리체계  |  3/4  |  2026-04-09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메인 포탈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로그인 인증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807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804672"/>
            <a:ext cx="3017520" cy="30175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SYS02 설문종합관리체계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035" y="1106424"/>
            <a:ext cx="19050" cy="10058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8860" y="1197483"/>
            <a:ext cx="758952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9933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226314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409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605790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88855" y="12070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985266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3520440" cy="24231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설문 등록/수정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설문명, 기간, 대상자, 익명여부 입력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첨부: 승인공문, 설문지, 보안검토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문항 편집기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단일선택/복수선택/주관식/평점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선택지 추가, 필수 여부, 순서 변경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엑셀 양식 업로드/다운로드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상태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승인 요청/배포/마감 처리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상태별 설문 목록 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나의 설문관리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417320"/>
            <a:ext cx="3520440" cy="24231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진행중 설문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active 상태 설문 목록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설문명, 등록자, 기간, 참여 여부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설문 응답 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문항별 입력 위젯 자동 렌더링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필수 문항 유효성 검사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제출 / 임시 저장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응답 완료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성공 메시지 표시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목록으로 돌아가기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4173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설문참여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417320"/>
            <a:ext cx="3520440" cy="24231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마감 설문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closed 상태 설문 목록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대상자 수, 응답자 수 표시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결과 분석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응답률 통계 (카드 3개)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선택형 Bar 차트 + 비율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주관식 텍스트 목록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평점형 평균 + 분포 차트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엑셀 다운로드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CSV 형식 결과 내보내기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지난 설문보기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0035" y="3840480"/>
            <a:ext cx="19050" cy="1097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08860" y="3940683"/>
            <a:ext cx="758952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99335" y="39502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2263140" y="4069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4095" y="39502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6057900" y="4069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88855" y="3950208"/>
            <a:ext cx="19050" cy="21031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9852660" y="4069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160520"/>
            <a:ext cx="3520440" cy="21488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승인 대기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제출 설문 승인/반려 처리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전체 설문관리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모든 상태 설문 조회/검색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카테고리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카테고리 등록/수정/삭제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통계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월별 등록/마감/응답 차트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대상자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설문별 대상자 목록/응답여부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6  설문 템플릿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템플릿 등록/관리/활용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1605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체계관리 (관리자)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160520"/>
            <a:ext cx="3520440" cy="21488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공지사항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목록/상세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등록/수정/삭제 (관리자)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질의응답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질문 등록 / 답변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관리자 답변 작성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1605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게시판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160520"/>
            <a:ext cx="3520440" cy="21488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50800" tIns="274320" bIns="508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1  체계담당자 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시스템 관리자 지정/해제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2  메뉴관리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메뉴 구조 편집 / 권한 설정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3  메시지관리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시스템 메시지 편집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4  로그조회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사용자 활동 로그 조회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5  코드관리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공통코드 CRUD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KoPub돋움체 Medium"/>
              </a:rPr>
              <a:t>6  권한관리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KoPub돋움체 Medium"/>
              </a:rPr>
              <a:t>   • 권한그룹 / 메뉴별 권한 설정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160520"/>
            <a:ext cx="352044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관리자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/>
            <a:r>
              <a:rPr sz="2000" b="1">
                <a:solidFill>
                  <a:srgbClr val="FFFFFF"/>
                </a:solidFill>
                <a:latin typeface="KoPub돋움체 Medium"/>
              </a:rPr>
              <a:t>SYS02 설문종합관리체계 — 유스케이스 다이어그램 (Use Case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3개 액터, 18개 유스케이스 — 설문 생성/참여/관리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254000"/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SYS02 설문종합관리체계  |  4/4  |  2026-04-09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024128"/>
            <a:ext cx="8686800" cy="3456432"/>
          </a:xfrm>
          <a:prstGeom prst="roundRect">
            <a:avLst/>
          </a:prstGeom>
          <a:noFill/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0424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6"/>
                </a:solidFill>
                <a:latin typeface="KoPub돋움체 Medium"/>
              </a:rPr>
              <a:t>SYS02 설문종합관리체계</a:t>
            </a:r>
          </a:p>
        </p:txBody>
      </p:sp>
      <p:sp>
        <p:nvSpPr>
          <p:cNvPr id="7" name="Oval 6"/>
          <p:cNvSpPr/>
          <p:nvPr/>
        </p:nvSpPr>
        <p:spPr>
          <a:xfrm>
            <a:off x="244602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등록/수정</a:t>
            </a:r>
          </a:p>
        </p:txBody>
      </p:sp>
      <p:sp>
        <p:nvSpPr>
          <p:cNvPr id="8" name="Oval 7"/>
          <p:cNvSpPr/>
          <p:nvPr/>
        </p:nvSpPr>
        <p:spPr>
          <a:xfrm>
            <a:off x="244602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문항 편집</a:t>
            </a:r>
          </a:p>
        </p:txBody>
      </p:sp>
      <p:sp>
        <p:nvSpPr>
          <p:cNvPr id="9" name="Oval 8"/>
          <p:cNvSpPr/>
          <p:nvPr/>
        </p:nvSpPr>
        <p:spPr>
          <a:xfrm>
            <a:off x="244602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승인 요청</a:t>
            </a:r>
          </a:p>
        </p:txBody>
      </p:sp>
      <p:sp>
        <p:nvSpPr>
          <p:cNvPr id="10" name="Oval 9"/>
          <p:cNvSpPr/>
          <p:nvPr/>
        </p:nvSpPr>
        <p:spPr>
          <a:xfrm>
            <a:off x="244602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배포</a:t>
            </a:r>
          </a:p>
        </p:txBody>
      </p:sp>
      <p:sp>
        <p:nvSpPr>
          <p:cNvPr id="11" name="Oval 10"/>
          <p:cNvSpPr/>
          <p:nvPr/>
        </p:nvSpPr>
        <p:spPr>
          <a:xfrm>
            <a:off x="244602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마감</a:t>
            </a:r>
          </a:p>
        </p:txBody>
      </p:sp>
      <p:sp>
        <p:nvSpPr>
          <p:cNvPr id="12" name="Oval 11"/>
          <p:cNvSpPr/>
          <p:nvPr/>
        </p:nvSpPr>
        <p:spPr>
          <a:xfrm>
            <a:off x="244602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나의 설문 조회</a:t>
            </a:r>
          </a:p>
        </p:txBody>
      </p:sp>
      <p:sp>
        <p:nvSpPr>
          <p:cNvPr id="13" name="Oval 12"/>
          <p:cNvSpPr/>
          <p:nvPr/>
        </p:nvSpPr>
        <p:spPr>
          <a:xfrm>
            <a:off x="532638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응답</a:t>
            </a:r>
          </a:p>
        </p:txBody>
      </p:sp>
      <p:sp>
        <p:nvSpPr>
          <p:cNvPr id="14" name="Oval 13"/>
          <p:cNvSpPr/>
          <p:nvPr/>
        </p:nvSpPr>
        <p:spPr>
          <a:xfrm>
            <a:off x="532638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임시 저장</a:t>
            </a:r>
          </a:p>
        </p:txBody>
      </p:sp>
      <p:sp>
        <p:nvSpPr>
          <p:cNvPr id="15" name="Oval 14"/>
          <p:cNvSpPr/>
          <p:nvPr/>
        </p:nvSpPr>
        <p:spPr>
          <a:xfrm>
            <a:off x="532638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응답 제출</a:t>
            </a:r>
          </a:p>
        </p:txBody>
      </p:sp>
      <p:sp>
        <p:nvSpPr>
          <p:cNvPr id="16" name="Oval 15"/>
          <p:cNvSpPr/>
          <p:nvPr/>
        </p:nvSpPr>
        <p:spPr>
          <a:xfrm>
            <a:off x="532638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지난 설문 조회</a:t>
            </a:r>
          </a:p>
        </p:txBody>
      </p:sp>
      <p:sp>
        <p:nvSpPr>
          <p:cNvPr id="17" name="Oval 16"/>
          <p:cNvSpPr/>
          <p:nvPr/>
        </p:nvSpPr>
        <p:spPr>
          <a:xfrm>
            <a:off x="532638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결과 분석 조회</a:t>
            </a:r>
          </a:p>
        </p:txBody>
      </p:sp>
      <p:sp>
        <p:nvSpPr>
          <p:cNvPr id="18" name="Oval 17"/>
          <p:cNvSpPr/>
          <p:nvPr/>
        </p:nvSpPr>
        <p:spPr>
          <a:xfrm>
            <a:off x="532638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엑셀 다운로드</a:t>
            </a:r>
          </a:p>
        </p:txBody>
      </p:sp>
      <p:sp>
        <p:nvSpPr>
          <p:cNvPr id="19" name="Oval 18"/>
          <p:cNvSpPr/>
          <p:nvPr/>
        </p:nvSpPr>
        <p:spPr>
          <a:xfrm>
            <a:off x="8206740" y="12527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설문 승인/반려</a:t>
            </a:r>
          </a:p>
        </p:txBody>
      </p:sp>
      <p:sp>
        <p:nvSpPr>
          <p:cNvPr id="20" name="Oval 19"/>
          <p:cNvSpPr/>
          <p:nvPr/>
        </p:nvSpPr>
        <p:spPr>
          <a:xfrm>
            <a:off x="8206740" y="180136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전체 설문 관리</a:t>
            </a:r>
          </a:p>
        </p:txBody>
      </p:sp>
      <p:sp>
        <p:nvSpPr>
          <p:cNvPr id="21" name="Oval 20"/>
          <p:cNvSpPr/>
          <p:nvPr/>
        </p:nvSpPr>
        <p:spPr>
          <a:xfrm>
            <a:off x="8206740" y="235000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카테고리 관리</a:t>
            </a:r>
          </a:p>
        </p:txBody>
      </p:sp>
      <p:sp>
        <p:nvSpPr>
          <p:cNvPr id="22" name="Oval 21"/>
          <p:cNvSpPr/>
          <p:nvPr/>
        </p:nvSpPr>
        <p:spPr>
          <a:xfrm>
            <a:off x="8206740" y="289864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템플릿 관리</a:t>
            </a:r>
          </a:p>
        </p:txBody>
      </p:sp>
      <p:sp>
        <p:nvSpPr>
          <p:cNvPr id="23" name="Oval 22"/>
          <p:cNvSpPr/>
          <p:nvPr/>
        </p:nvSpPr>
        <p:spPr>
          <a:xfrm>
            <a:off x="8206740" y="344728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대상자 관리</a:t>
            </a:r>
          </a:p>
        </p:txBody>
      </p:sp>
      <p:sp>
        <p:nvSpPr>
          <p:cNvPr id="24" name="Oval 23"/>
          <p:cNvSpPr/>
          <p:nvPr/>
        </p:nvSpPr>
        <p:spPr>
          <a:xfrm>
            <a:off x="8206740" y="3995928"/>
            <a:ext cx="1508760" cy="329184"/>
          </a:xfrm>
          <a:prstGeom prst="ellipse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통계 조회</a:t>
            </a:r>
          </a:p>
        </p:txBody>
      </p:sp>
      <p:sp>
        <p:nvSpPr>
          <p:cNvPr id="25" name="Oval 24"/>
          <p:cNvSpPr/>
          <p:nvPr/>
        </p:nvSpPr>
        <p:spPr>
          <a:xfrm>
            <a:off x="539496" y="137160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555" y="157276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" y="161810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30352" y="175564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40080" y="175564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192024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설문작성자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" y="3749039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555" y="3950207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" y="3995546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30352" y="4133087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40080" y="4133087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4297679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응답자</a:t>
            </a:r>
          </a:p>
        </p:txBody>
      </p:sp>
      <p:sp>
        <p:nvSpPr>
          <p:cNvPr id="37" name="Oval 36"/>
          <p:cNvSpPr/>
          <p:nvPr/>
        </p:nvSpPr>
        <p:spPr>
          <a:xfrm>
            <a:off x="11466576" y="2377440"/>
            <a:ext cx="201168" cy="201168"/>
          </a:xfrm>
          <a:prstGeom prst="ellipse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57635" y="2578608"/>
            <a:ext cx="19050" cy="1828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20856" y="2623947"/>
            <a:ext cx="292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457432" y="276148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109728" y="0"/>
                </a:move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567160" y="276148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146304"/>
                </a:lnTo>
                <a:close/>
              </a:path>
            </a:pathLst>
          </a:cu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64240" y="292608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관리자</a:t>
            </a:r>
          </a:p>
        </p:txBody>
      </p:sp>
      <p:sp>
        <p:nvSpPr>
          <p:cNvPr id="43" name="Freeform 42"/>
          <p:cNvSpPr/>
          <p:nvPr/>
        </p:nvSpPr>
        <p:spPr>
          <a:xfrm>
            <a:off x="786384" y="1417320"/>
            <a:ext cx="1659636" cy="246888"/>
          </a:xfrm>
          <a:custGeom>
            <a:avLst/>
            <a:gdLst/>
            <a:ahLst/>
            <a:cxnLst/>
            <a:rect l="l" t="t" r="r" b="b"/>
            <a:pathLst>
              <a:path w="1659636" h="246888">
                <a:moveTo>
                  <a:pt x="0" y="246888"/>
                </a:moveTo>
                <a:lnTo>
                  <a:pt x="165963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6384" y="1664208"/>
            <a:ext cx="1659636" cy="301752"/>
          </a:xfrm>
          <a:custGeom>
            <a:avLst/>
            <a:gdLst/>
            <a:ahLst/>
            <a:cxnLst/>
            <a:rect l="l" t="t" r="r" b="b"/>
            <a:pathLst>
              <a:path w="1659636" h="301752">
                <a:moveTo>
                  <a:pt x="0" y="0"/>
                </a:moveTo>
                <a:lnTo>
                  <a:pt x="1659636" y="30175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86384" y="1664208"/>
            <a:ext cx="1659636" cy="850392"/>
          </a:xfrm>
          <a:custGeom>
            <a:avLst/>
            <a:gdLst/>
            <a:ahLst/>
            <a:cxnLst/>
            <a:rect l="l" t="t" r="r" b="b"/>
            <a:pathLst>
              <a:path w="1659636" h="850392">
                <a:moveTo>
                  <a:pt x="0" y="0"/>
                </a:moveTo>
                <a:lnTo>
                  <a:pt x="1659636" y="85039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86384" y="1664208"/>
            <a:ext cx="1659636" cy="1399032"/>
          </a:xfrm>
          <a:custGeom>
            <a:avLst/>
            <a:gdLst/>
            <a:ahLst/>
            <a:cxnLst/>
            <a:rect l="l" t="t" r="r" b="b"/>
            <a:pathLst>
              <a:path w="1659636" h="1399032">
                <a:moveTo>
                  <a:pt x="0" y="0"/>
                </a:moveTo>
                <a:lnTo>
                  <a:pt x="1659636" y="139903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786384" y="1664208"/>
            <a:ext cx="1659636" cy="1947672"/>
          </a:xfrm>
          <a:custGeom>
            <a:avLst/>
            <a:gdLst/>
            <a:ahLst/>
            <a:cxnLst/>
            <a:rect l="l" t="t" r="r" b="b"/>
            <a:pathLst>
              <a:path w="1659636" h="1947672">
                <a:moveTo>
                  <a:pt x="0" y="0"/>
                </a:moveTo>
                <a:lnTo>
                  <a:pt x="1659636" y="194767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86384" y="1664208"/>
            <a:ext cx="1659636" cy="2496312"/>
          </a:xfrm>
          <a:custGeom>
            <a:avLst/>
            <a:gdLst/>
            <a:ahLst/>
            <a:cxnLst/>
            <a:rect l="l" t="t" r="r" b="b"/>
            <a:pathLst>
              <a:path w="1659636" h="2496312">
                <a:moveTo>
                  <a:pt x="0" y="0"/>
                </a:moveTo>
                <a:lnTo>
                  <a:pt x="1659636" y="249631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86384" y="1417320"/>
            <a:ext cx="4539996" cy="2624327"/>
          </a:xfrm>
          <a:custGeom>
            <a:avLst/>
            <a:gdLst/>
            <a:ahLst/>
            <a:cxnLst/>
            <a:rect l="l" t="t" r="r" b="b"/>
            <a:pathLst>
              <a:path w="4539996" h="2624327">
                <a:moveTo>
                  <a:pt x="0" y="2624327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86384" y="1965960"/>
            <a:ext cx="4539996" cy="2075687"/>
          </a:xfrm>
          <a:custGeom>
            <a:avLst/>
            <a:gdLst/>
            <a:ahLst/>
            <a:cxnLst/>
            <a:rect l="l" t="t" r="r" b="b"/>
            <a:pathLst>
              <a:path w="4539996" h="2075687">
                <a:moveTo>
                  <a:pt x="0" y="2075687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6384" y="2514600"/>
            <a:ext cx="4539996" cy="1527047"/>
          </a:xfrm>
          <a:custGeom>
            <a:avLst/>
            <a:gdLst/>
            <a:ahLst/>
            <a:cxnLst/>
            <a:rect l="l" t="t" r="r" b="b"/>
            <a:pathLst>
              <a:path w="4539996" h="1527047">
                <a:moveTo>
                  <a:pt x="0" y="1527047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6384" y="3063240"/>
            <a:ext cx="4539996" cy="978407"/>
          </a:xfrm>
          <a:custGeom>
            <a:avLst/>
            <a:gdLst/>
            <a:ahLst/>
            <a:cxnLst/>
            <a:rect l="l" t="t" r="r" b="b"/>
            <a:pathLst>
              <a:path w="4539996" h="978407">
                <a:moveTo>
                  <a:pt x="0" y="978407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86384" y="3611880"/>
            <a:ext cx="4539996" cy="429767"/>
          </a:xfrm>
          <a:custGeom>
            <a:avLst/>
            <a:gdLst/>
            <a:ahLst/>
            <a:cxnLst/>
            <a:rect l="l" t="t" r="r" b="b"/>
            <a:pathLst>
              <a:path w="4539996" h="429767">
                <a:moveTo>
                  <a:pt x="0" y="429767"/>
                </a:moveTo>
                <a:lnTo>
                  <a:pt x="4539996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86384" y="4041647"/>
            <a:ext cx="4539996" cy="118873"/>
          </a:xfrm>
          <a:custGeom>
            <a:avLst/>
            <a:gdLst/>
            <a:ahLst/>
            <a:cxnLst/>
            <a:rect l="l" t="t" r="r" b="b"/>
            <a:pathLst>
              <a:path w="4539996" h="118873">
                <a:moveTo>
                  <a:pt x="0" y="0"/>
                </a:moveTo>
                <a:lnTo>
                  <a:pt x="4539996" y="118873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15500" y="1417320"/>
            <a:ext cx="1705356" cy="1252728"/>
          </a:xfrm>
          <a:custGeom>
            <a:avLst/>
            <a:gdLst/>
            <a:ahLst/>
            <a:cxnLst/>
            <a:rect l="l" t="t" r="r" b="b"/>
            <a:pathLst>
              <a:path w="1705356" h="1252728">
                <a:moveTo>
                  <a:pt x="1705356" y="125272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715500" y="1965960"/>
            <a:ext cx="1705356" cy="704088"/>
          </a:xfrm>
          <a:custGeom>
            <a:avLst/>
            <a:gdLst/>
            <a:ahLst/>
            <a:cxnLst/>
            <a:rect l="l" t="t" r="r" b="b"/>
            <a:pathLst>
              <a:path w="1705356" h="704088">
                <a:moveTo>
                  <a:pt x="1705356" y="70408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9715500" y="2514600"/>
            <a:ext cx="1705356" cy="155448"/>
          </a:xfrm>
          <a:custGeom>
            <a:avLst/>
            <a:gdLst/>
            <a:ahLst/>
            <a:cxnLst/>
            <a:rect l="l" t="t" r="r" b="b"/>
            <a:pathLst>
              <a:path w="1705356" h="155448">
                <a:moveTo>
                  <a:pt x="1705356" y="155448"/>
                </a:move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715500" y="2670048"/>
            <a:ext cx="1705356" cy="393192"/>
          </a:xfrm>
          <a:custGeom>
            <a:avLst/>
            <a:gdLst/>
            <a:ahLst/>
            <a:cxnLst/>
            <a:rect l="l" t="t" r="r" b="b"/>
            <a:pathLst>
              <a:path w="1705356" h="393192">
                <a:moveTo>
                  <a:pt x="1705356" y="0"/>
                </a:moveTo>
                <a:lnTo>
                  <a:pt x="0" y="39319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715500" y="2670048"/>
            <a:ext cx="1705356" cy="941832"/>
          </a:xfrm>
          <a:custGeom>
            <a:avLst/>
            <a:gdLst/>
            <a:ahLst/>
            <a:cxnLst/>
            <a:rect l="l" t="t" r="r" b="b"/>
            <a:pathLst>
              <a:path w="1705356" h="941832">
                <a:moveTo>
                  <a:pt x="1705356" y="0"/>
                </a:moveTo>
                <a:lnTo>
                  <a:pt x="0" y="94183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715500" y="2670048"/>
            <a:ext cx="1705356" cy="1490472"/>
          </a:xfrm>
          <a:custGeom>
            <a:avLst/>
            <a:gdLst/>
            <a:ahLst/>
            <a:cxnLst/>
            <a:rect l="l" t="t" r="r" b="b"/>
            <a:pathLst>
              <a:path w="1705356" h="1490472">
                <a:moveTo>
                  <a:pt x="1705356" y="0"/>
                </a:moveTo>
                <a:lnTo>
                  <a:pt x="0" y="1490472"/>
                </a:lnTo>
                <a:close/>
              </a:path>
            </a:pathLst>
          </a:custGeom>
          <a:noFill/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474720" y="1581912"/>
            <a:ext cx="0" cy="219456"/>
          </a:xfrm>
          <a:custGeom>
            <a:avLst/>
            <a:gdLst/>
            <a:ahLst/>
            <a:cxnLst/>
            <a:rect l="l" t="t" r="r" b="b"/>
            <a:pathLst>
              <a:path w="0" h="219456">
                <a:moveTo>
                  <a:pt x="0" y="0"/>
                </a:moveTo>
                <a:lnTo>
                  <a:pt x="0" y="21945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40" y="161848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&lt;&lt;포함&gt;&gt;</a:t>
            </a:r>
          </a:p>
        </p:txBody>
      </p:sp>
      <p:sp>
        <p:nvSpPr>
          <p:cNvPr id="63" name="Freeform 62"/>
          <p:cNvSpPr/>
          <p:nvPr/>
        </p:nvSpPr>
        <p:spPr>
          <a:xfrm>
            <a:off x="6355080" y="1581912"/>
            <a:ext cx="0" cy="768096"/>
          </a:xfrm>
          <a:custGeom>
            <a:avLst/>
            <a:gdLst/>
            <a:ahLst/>
            <a:cxnLst/>
            <a:rect l="l" t="t" r="r" b="b"/>
            <a:pathLst>
              <a:path w="0" h="768096">
                <a:moveTo>
                  <a:pt x="0" y="0"/>
                </a:moveTo>
                <a:lnTo>
                  <a:pt x="0" y="76809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189280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&lt;&lt;포함&gt;&gt;</a:t>
            </a:r>
          </a:p>
        </p:txBody>
      </p:sp>
      <p:sp>
        <p:nvSpPr>
          <p:cNvPr id="65" name="Freeform 64"/>
          <p:cNvSpPr/>
          <p:nvPr/>
        </p:nvSpPr>
        <p:spPr>
          <a:xfrm>
            <a:off x="5806440" y="1581912"/>
            <a:ext cx="0" cy="219456"/>
          </a:xfrm>
          <a:custGeom>
            <a:avLst/>
            <a:gdLst/>
            <a:ahLst/>
            <a:cxnLst/>
            <a:rect l="l" t="t" r="r" b="b"/>
            <a:pathLst>
              <a:path w="0" h="219456">
                <a:moveTo>
                  <a:pt x="0" y="0"/>
                </a:moveTo>
                <a:lnTo>
                  <a:pt x="0" y="21945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161848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&lt;&lt;확장&gt;&gt;</a:t>
            </a:r>
          </a:p>
        </p:txBody>
      </p:sp>
      <p:sp>
        <p:nvSpPr>
          <p:cNvPr id="67" name="Freeform 66"/>
          <p:cNvSpPr/>
          <p:nvPr/>
        </p:nvSpPr>
        <p:spPr>
          <a:xfrm>
            <a:off x="6355080" y="3776472"/>
            <a:ext cx="0" cy="219456"/>
          </a:xfrm>
          <a:custGeom>
            <a:avLst/>
            <a:gdLst/>
            <a:ahLst/>
            <a:cxnLst/>
            <a:rect l="l" t="t" r="r" b="b"/>
            <a:pathLst>
              <a:path w="0" h="219456">
                <a:moveTo>
                  <a:pt x="0" y="0"/>
                </a:moveTo>
                <a:lnTo>
                  <a:pt x="0" y="219456"/>
                </a:lnTo>
                <a:close/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381304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&lt;&lt;확장&gt;&gt;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