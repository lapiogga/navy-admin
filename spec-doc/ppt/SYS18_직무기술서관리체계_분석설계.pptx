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9260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SYS18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직무기술서관리체계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DDFF"/>
                </a:solidFill>
              </a:defRPr>
            </a:pPr>
            <a:r>
              <a:t>분석/설계 자료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474720"/>
            <a:ext cx="2286000" cy="128016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566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</a:defRPr>
            </a:pPr>
            <a:r>
              <a:t>단위 프로세스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931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3366"/>
                </a:solidFill>
              </a:defRPr>
            </a:pPr>
            <a:r>
              <a:t>47개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3474720"/>
            <a:ext cx="2286000" cy="128016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3566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</a:defRPr>
            </a:pPr>
            <a:r>
              <a:t>복잡도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3931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3366"/>
                </a:solidFill>
              </a:defRPr>
            </a:pPr>
            <a:r>
              <a:t>중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3474720"/>
            <a:ext cx="2286000" cy="128016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3566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</a:defRPr>
            </a:pPr>
            <a:r>
              <a:t>구현 페이지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3931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3366"/>
                </a:solidFill>
              </a:defRPr>
            </a:pPr>
            <a:r>
              <a:t>7개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02920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</a:defRPr>
            </a:pPr>
            <a:r>
              <a:t>핵심 키워드: 조직진단/직무기술서/결재/표준시간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217920"/>
            <a:ext cx="9144000" cy="640080"/>
          </a:xfrm>
          <a:prstGeom prst="rect">
            <a:avLst/>
          </a:prstGeom>
          <a:solidFill>
            <a:srgbClr val="00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630936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9AACC"/>
                </a:solidFill>
              </a:defRPr>
            </a:pPr>
            <a:r>
              <a:t>해병대 행정포탈 시스템 | 2026-04-07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SYS18 직무기술서관리체계 - 업무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</a:defRPr>
            </a:pPr>
            <a:r>
              <a:t>업무 개요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3840480" cy="274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3840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해병대 조직진단 대상 관리, 개인/부서 직무기술서 작성/결재/조회, 관리자 검토, 표준업무시간 관리 체계.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2608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</a:defRPr>
            </a:pPr>
            <a:r>
              <a:t>주요 사용자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291840"/>
            <a:ext cx="3840480" cy="274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383280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</a:defRPr>
            </a:pPr>
            <a:r>
              <a:t>일반 사용자(작성), 부서관리자(대리작성/부서직무기술서), 결재자, 조직진단 관리자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91440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</a:defRPr>
            </a:pPr>
            <a:r>
              <a:t>핵심 업무 흐름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0" y="1280160"/>
            <a:ext cx="3931920" cy="274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1371600"/>
            <a:ext cx="39319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1. 조직진단 대상 CRUD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2. 개인/부서 직무기술서 작성/수정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3. 결재대기 &gt; 결재/반려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4. 관리자 검토/의견/반송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5. 표준업무시간 관리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</a:defRPr>
            </a:pPr>
            <a:r>
              <a:t>해병대 행정포탈 | SYS18 직무기술서관리체계 | 2/5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SYS18 직무기술서관리체계 - 주요 기능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8229600" cy="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5943600"/>
              </a:tblGrid>
              <a:tr h="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대메뉴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주요 기능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1F3F"/>
                          </a:solidFill>
                        </a:defRPr>
                      </a:pPr>
                      <a:r>
                        <a:t>게시판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공지사항, 질의응답, 자료실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1F3F"/>
                          </a:solidFill>
                        </a:defRPr>
                      </a:pPr>
                      <a:r>
                        <a:t>직무기술서 관리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조직진단/작성/결재/조회(관리자)/표준업무시간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1F3F"/>
                          </a:solidFill>
                        </a:defRPr>
                      </a:pPr>
                      <a:r>
                        <a:t>관리자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공통기능 모듈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27432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66"/>
                </a:solidFill>
              </a:defRPr>
            </a:pPr>
            <a:r>
              <a:t>구현 페이지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0175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</a:defRPr>
            </a:pPr>
            <a:r>
              <a:t>OrgDiagnosisPage, JobDescListPage, JobDescFormPage, JobDescApprovalPage, JobDescAdminPage, StandardWorkTimePage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</a:defRPr>
            </a:pPr>
            <a:r>
              <a:t>해병대 행정포탈 | SYS18 직무기술서관리체계 | 3/5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SYS18 직무기술서관리체계 - 입출력 데이터 및 규칙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3840480" cy="2286000"/>
          </a:xfrm>
          <a:prstGeom prst="rect">
            <a:avLst/>
          </a:prstGeom>
          <a:solidFill>
            <a:srgbClr val="E8F0FE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</a:defRPr>
            </a:pPr>
            <a:r>
              <a:t>입력 데이터 (Input)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3474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</a:defRPr>
            </a:pPr>
            <a:r>
              <a:t>조직진단(진단명/부대/기간/대상자/제외대상자), 직무기술서(엑셀 업로드/결재자), 표준업무시간(신분별/적용기간)</a:t>
            </a:r>
          </a:p>
        </p:txBody>
      </p:sp>
      <p:sp>
        <p:nvSpPr>
          <p:cNvPr id="7" name="Rectangle 6"/>
          <p:cNvSpPr/>
          <p:nvPr/>
        </p:nvSpPr>
        <p:spPr>
          <a:xfrm>
            <a:off x="4846320" y="1005840"/>
            <a:ext cx="3840480" cy="2286000"/>
          </a:xfrm>
          <a:prstGeom prst="rect">
            <a:avLst/>
          </a:prstGeom>
          <a:solidFill>
            <a:srgbClr val="E8F0FE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0" y="10972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</a:defRPr>
            </a:pPr>
            <a:r>
              <a:t>출력 데이터 (Output)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1417320"/>
            <a:ext cx="3474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</a:defRPr>
            </a:pPr>
            <a:r>
              <a:t>개인/부서 직무기술서 프린트, 목록 프린트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5661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</a:defRPr>
            </a:pPr>
            <a:r>
              <a:t>규칙 / 예외사항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886200"/>
            <a:ext cx="8229600" cy="274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4023360"/>
            <a:ext cx="8229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  조직진단 수정/삭제는 진단기간 이전까지만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  적용여부 자동 표시(만료/적용중/예정)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  초과근무 실적 연동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</a:defRPr>
            </a:pPr>
            <a:r>
              <a:t>해병대 행정포탈 | SYS18 직무기술서관리체계 | 4/5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SYS18 직무기술서관리체계 - 시스템 구조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</a:defRPr>
            </a:pPr>
            <a:r>
              <a:t>기술 스택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3840480" cy="274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3840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React 18 + TypeScript 5 + Vite 5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Ant Design 5 (ProTable, ProForm, ProLayout)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Zustand 5 (Client State) + TanStack Query 5 (Server State)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React Router 7 (SPA Routing)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MSW 2 (Mock API) + Faker.js 9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Tailwind CSS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91440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</a:defRPr>
            </a:pPr>
            <a:r>
              <a:t>공통 컴포넌트</a:t>
            </a:r>
          </a:p>
        </p:txBody>
      </p:sp>
      <p:sp>
        <p:nvSpPr>
          <p:cNvPr id="8" name="Rectangle 7"/>
          <p:cNvSpPr/>
          <p:nvPr/>
        </p:nvSpPr>
        <p:spPr>
          <a:xfrm>
            <a:off x="4846320" y="1188720"/>
            <a:ext cx="3840480" cy="274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0" y="1280160"/>
            <a:ext cx="3840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DataTable: 군청색 라인 테이블 (상단 2px, 하단 1px)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SearchForm: 100px 높이 검색영역 컨테이너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CrudForm: 등록/수정 폼 (text/select/date/file 등)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militaryPersonColumn: 군번/계급/성명 3항목 표시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StatusBadge: 상태 뱃지 (색상/라벨 매핑)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SubsystemHomePage: 서브시스템 메인 화면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AdminRoutes: 공통기능 관리자 라우트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918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</a:defRPr>
            </a:pPr>
            <a:r>
              <a:t>아키텍처 패턴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566160"/>
            <a:ext cx="8229600" cy="274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3840480"/>
            <a:ext cx="1828800" cy="731520"/>
          </a:xfrm>
          <a:prstGeom prst="rect">
            <a:avLst/>
          </a:prstGeom>
          <a:solidFill>
            <a:srgbClr val="E8F0FE"/>
          </a:solidFill>
          <a:ln w="127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001F3F"/>
                </a:solidFill>
              </a:defRPr>
            </a:pPr>
            <a:r>
              <a:t>사용자 (브라우저)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0" y="3840480"/>
            <a:ext cx="1828800" cy="731520"/>
          </a:xfrm>
          <a:prstGeom prst="rect">
            <a:avLst/>
          </a:prstGeom>
          <a:solidFill>
            <a:srgbClr val="E8F0FE"/>
          </a:solidFill>
          <a:ln w="127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001F3F"/>
                </a:solidFill>
              </a:defRPr>
            </a:pPr>
            <a:r>
              <a:t>React SPA</a:t>
            </a:r>
            <a:br/>
            <a:r>
              <a:t>/sys18/*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0" y="3840480"/>
            <a:ext cx="1828800" cy="731520"/>
          </a:xfrm>
          <a:prstGeom prst="rect">
            <a:avLst/>
          </a:prstGeom>
          <a:solidFill>
            <a:srgbClr val="E8F0FE"/>
          </a:solidFill>
          <a:ln w="127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001F3F"/>
                </a:solidFill>
              </a:defRPr>
            </a:pPr>
            <a:r>
              <a:t>MSW</a:t>
            </a:r>
            <a:br/>
            <a:r>
              <a:t>(Mock API)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0" y="3840480"/>
            <a:ext cx="1371600" cy="731520"/>
          </a:xfrm>
          <a:prstGeom prst="rect">
            <a:avLst/>
          </a:prstGeom>
          <a:solidFill>
            <a:srgbClr val="FFF0E0"/>
          </a:solidFill>
          <a:ln w="127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001F3F"/>
                </a:solidFill>
              </a:defRPr>
            </a:pPr>
            <a:r>
              <a:t>향후</a:t>
            </a:r>
            <a:br/>
            <a:r>
              <a:t>Backend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40233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3366"/>
                </a:solidFill>
              </a:defRPr>
            </a:pPr>
            <a:r>
              <a:t>--&gt;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40233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3366"/>
                </a:solidFill>
              </a:defRPr>
            </a:pPr>
            <a:r>
              <a:t>--&gt;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40233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66666"/>
                </a:solidFill>
              </a:defRPr>
            </a:pPr>
            <a:r>
              <a:t>--&gt;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</a:defRPr>
            </a:pPr>
            <a:r>
              <a:t>라우트 구조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120640"/>
            <a:ext cx="8229600" cy="274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52120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</a:defRPr>
            </a:pPr>
            <a:r>
              <a:t>/ (메인 포탈) --&gt; /sys18/* (서브시스템 레이아웃) --&gt; /sys18/N/N (기능 페이지) | /sys18/admin/* (관리자)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760720"/>
            <a:ext cx="8229600" cy="457200"/>
          </a:xfrm>
          <a:prstGeom prst="rect">
            <a:avLst/>
          </a:prstGeom>
          <a:solidFill>
            <a:srgbClr val="E8F0FE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5806440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3366"/>
                </a:solidFill>
              </a:defRPr>
            </a:pPr>
            <a:r>
              <a:t>전체 시스템: 18개 서브시스템 | 845개 프로세스 | 213개 페이지 | SYS18: 47개 프로세스 | 7개 페이지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</a:defRPr>
            </a:pPr>
            <a:r>
              <a:t>해병대 행정포탈 | SYS18 직무기술서관리체계 | 5/5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